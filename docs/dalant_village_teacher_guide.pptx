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87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교사 계정으로 달란트 마을을 사용하는 흐름을 봅니다. 핵심은 학생 달란트를 정확히 지급하고, 학생 구매를 도와주고, 본인 달란트와 구매 상태를 확인하는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가지 목표만 기억하게 하면 됩니다. 첫째, 달란트 지급. 둘째, 학생 상품 대리 구매. 셋째, 메뉴가 다를 때 권한과 담당 설정을 확인하는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복잡한 시스템 설명보다 사용 흐름을 먼저 말합니다. 학생 활동이 생기고, 교사가 기록하고, 학생이 확인하고, 상품 교환으로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교사끼리 화면이 다르게 보일 수 있습니다. 일반 교사는 주로 40등급, 부서 담당 교사는 60등급입니다. 담당 부서나 반이 비어 있으면 학생 목록이 안 보일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교사에게 가장 먼저 안내할 것은 계정 발급 방식입니다. 신청 화면은 계정이 없을 때 쓰지만, 교사 권한은 관리자가 확인해 주어야 합니다. 비밀번호는 절대 공유하지 않도록 강조합니다.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학생 가이드는 학생에게 바로 보여줄 수 있는 자료입니다. 학생에게는 상품 구매가 바로 완료되는 것이 아니라 신청 후 교사가 처리한다는 점을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내 달란트 화면은 학생 관리 화면이 아니라 본인의 통장입니다. 교사가 받은 봉사 활동, 회의 참석 등의 달란트와 본인 구매 상태를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수령은 교사 본인이 받는 기능입니다. QR 대상이 교사용인지, 유효기간이 맞는지, 오늘 이미 받은 것은 아닌지를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달란트 관리 화면은 발표에서 반드시 시연합니다. 출석은 행의 출석 버튼, 다른 활동은 관리 드롭다운의 달란트 지급에서 항목을 체크합니다. 상세에서는 지급 내역을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교사는 내 상품은 교사용 탭에서 직접 구매 신청합니다. 학생 상품은 본인 명의로 사는 것이 아니라, 대리 구매로 학생 명의 신청을 넣습니다.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대리 구매는 발표 중 한 번 흐름으로 보여주면 좋습니다. 검색하고 학생을 선택하면 그 학생의 사용 가능 달란트 기준으로 상품 목록이 나옵니다. 잔액부족 표시가 있으면 신청할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구매는 네 단계입니다. 구매 신청 때는 달란트가 사용 대기로 잡히고, 상품 구매 확정 때 실제 차감됩니다. 대리 구매는 학생 명의라서 교사 본인 내 구매 상품에는 보이지 않을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Q&amp;A는 도움말 공간입니다. 학생들이 자주 묻는 질문을 먼저 보여주고, 일반 교사는 질문 확인과 등록, 부서 담당 교사 이상은 답변까지 할 수 있다고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아키텍처는 짧게 설명합니다. GitHub Pages는 화면, Supabase는 로그인과 데이터입니다. 교사에게 중요한 메시지는 권한에 따라 메뉴가 자동으로 달라지고, 데이터는 서버 쪽에서 다시 검증된다는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시간에는 메뉴 설명을 길게 하기보다 이 순서로 바로 클릭해 보여주는 것이 좋습니다. 마지막에 대리 구매와 달란트 차감 시점을 반복합니다.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멘트입니다. 교사 계정의 핵심은 달란트 관리, 상품 구매, 내 달란트입니다. 학생 활동을 정확하게 기록하고, 학생이 스스로 확인할 수 있게 도와주는 도구라고 정리합니다.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EFE8FF"/>
          </a:solidFill>
          <a:ln w="12700">
            <a:solidFill>
              <a:srgbClr val="EFE8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58368" y="676656"/>
            <a:ext cx="2057400" cy="256032"/>
          </a:xfrm>
          <a:prstGeom prst="roundRect">
            <a:avLst>
              <a:gd name="adj" fmla="val 28571"/>
            </a:avLst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726948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CHO Talents · 교사 온보딩</a:t>
            </a:r>
            <a:endParaRPr lang="en-US" sz="85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8368" y="1225296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⭐ 달란트 마을</a:t>
            </a:r>
            <a:endParaRPr lang="en-US" sz="3400" dirty="0">
              <a:latin typeface="+mn-ea"/>
            </a:endParaRPr>
          </a:p>
          <a:p>
            <a:pPr marL="0" indent="0">
              <a:buNone/>
            </a:pPr>
            <a:r>
              <a:rPr lang="en-US" sz="34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교사 사용 가이드</a:t>
            </a:r>
            <a:endParaRPr lang="en-US" sz="34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6656" y="2706624"/>
            <a:ext cx="53168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학생 달란트 지급 · QR 수령 · 대리 구매를</a:t>
            </a:r>
            <a:endParaRPr lang="en-US" sz="1550" dirty="0">
              <a:latin typeface="+mn-ea"/>
            </a:endParaRPr>
          </a:p>
          <a:p>
            <a:pPr marL="0" indent="0">
              <a:buNone/>
            </a:pPr>
            <a:r>
              <a:rPr lang="en-US" sz="1550" dirty="0" err="1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교회학교</a:t>
            </a:r>
            <a:r>
              <a:rPr lang="en-US" sz="1550" dirty="0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5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교사가 바로 시연할 수 있게 정리한 발표 자료</a:t>
            </a:r>
            <a:endParaRPr lang="en-US" sz="1550" dirty="0">
              <a:latin typeface="+mn-e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76656" y="3703320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E8E1FF"/>
          </a:solidFill>
          <a:ln w="12700">
            <a:solidFill>
              <a:srgbClr val="E8E1F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" y="3767328"/>
            <a:ext cx="2523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발표 대상: 초등부/교회학교 교사</a:t>
            </a:r>
            <a:endParaRPr lang="en-US" sz="880" dirty="0">
              <a:latin typeface="+mn-ea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3493008" y="3703320"/>
            <a:ext cx="1828800" cy="292608"/>
          </a:xfrm>
          <a:prstGeom prst="roundRect">
            <a:avLst>
              <a:gd name="adj" fmla="val 25000"/>
            </a:avLst>
          </a:prstGeom>
          <a:solidFill>
            <a:srgbClr val="E2F8EF"/>
          </a:solidFill>
          <a:ln w="12700">
            <a:solidFill>
              <a:srgbClr val="E2F8E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57016" y="3767328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8C67"/>
                </a:solidFill>
                <a:latin typeface="+mn-ea"/>
                <a:cs typeface="NanumSquareRound" pitchFamily="34" charset="-120"/>
              </a:rPr>
              <a:t>시연 중심 15분 구성</a:t>
            </a:r>
            <a:endParaRPr lang="en-US" sz="880" dirty="0">
              <a:latin typeface="+mn-ea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76656" y="618134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v3.23.0 기준</a:t>
            </a:r>
            <a:endParaRPr lang="en-US" sz="1000" dirty="0">
              <a:latin typeface="+mn-ea"/>
            </a:endParaRPr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21" b="13819"/>
          <a:stretch/>
        </p:blipFill>
        <p:spPr>
          <a:xfrm>
            <a:off x="7906578" y="453874"/>
            <a:ext cx="3169788" cy="562771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336024" y="6291072"/>
            <a:ext cx="310896" cy="310896"/>
          </a:xfrm>
          <a:prstGeom prst="ellipse">
            <a:avLst/>
          </a:prstGeom>
          <a:solidFill>
            <a:srgbClr val="FFC247"/>
          </a:solidFill>
          <a:ln w="12700">
            <a:solidFill>
              <a:srgbClr val="FFC24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오늘 발표의 목표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교사가 현장에서 바로 설명하고 시연할 수 있는 3가지 흐름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05256" y="16824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+mn-ea"/>
              </a:rPr>
              <a:t>💰</a:t>
            </a:r>
            <a:endParaRPr lang="en-US" sz="28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정확히 지급하기</a:t>
            </a:r>
            <a:endParaRPr lang="en-US" sz="180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816352"/>
            <a:ext cx="2633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담당 학생에게 출석/활동 달란트를 중복 없이 지급</a:t>
            </a:r>
            <a:endParaRPr lang="en-US" sz="135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FBFEFF"/>
          </a:solidFill>
          <a:ln w="12700">
            <a:solidFill>
              <a:srgbClr val="E7E3F7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0016" y="16824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+mn-ea"/>
              </a:rPr>
              <a:t>🛒</a:t>
            </a:r>
            <a:endParaRPr lang="en-US" sz="28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0916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대신 신청하기</a:t>
            </a:r>
            <a:endParaRPr lang="en-US" sz="180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09160" y="28163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학생 명의로 상품 구매 신청을 넣고 진행 상태 안내</a:t>
            </a:r>
            <a:endParaRPr lang="en-US" sz="135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75320" y="1417320"/>
            <a:ext cx="3246120" cy="2880360"/>
          </a:xfrm>
          <a:prstGeom prst="roundRect">
            <a:avLst>
              <a:gd name="adj" fmla="val 3810"/>
            </a:avLst>
          </a:prstGeom>
          <a:solidFill>
            <a:srgbClr val="FFFEFB"/>
          </a:solidFill>
          <a:ln w="12700">
            <a:solidFill>
              <a:srgbClr val="E7E3F7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94776" y="168249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000000"/>
                </a:solidFill>
                <a:latin typeface="+mn-ea"/>
              </a:rPr>
              <a:t>🧭</a:t>
            </a:r>
            <a:endParaRPr lang="en-US" sz="28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03920" y="23591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다르게 보이면 확인하기</a:t>
            </a:r>
            <a:endParaRPr lang="en-US" sz="180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03920" y="2816352"/>
            <a:ext cx="23940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권한·담당 부서·반 설정에 따라 메뉴가 달라짐</a:t>
            </a:r>
            <a:endParaRPr lang="en-US" sz="135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874520" y="4846320"/>
            <a:ext cx="8503920" cy="457200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39112" y="4965192"/>
            <a:ext cx="8174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교사용 핵심 메뉴는 달란트 관리, 상품 구매, 내 달란트입니다.</a:t>
            </a:r>
            <a:endParaRPr lang="en-US" sz="120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02</a:t>
            </a:r>
            <a:endParaRPr lang="en-US" sz="9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달란트 마을은 어떤 도구인가요?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학생에게는 달란트 통장, 교사에게는 활동 기록과 운영 도구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257010" y="352459"/>
            <a:ext cx="3350029" cy="594858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1280160"/>
            <a:ext cx="256032" cy="219456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1</a:t>
            </a:r>
            <a:endParaRPr lang="en-US" sz="1100" dirty="0">
              <a:latin typeface="+mn-e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234440" y="1188720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44752" y="12984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학생 활동</a:t>
            </a:r>
            <a:endParaRPr lang="en-US" sz="135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724912" y="129844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출석·예배·봉사·암송 등 활동 발생</a:t>
            </a:r>
            <a:endParaRPr lang="en-US" sz="1140" dirty="0">
              <a:latin typeface="+mn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2960" y="2176272"/>
            <a:ext cx="256032" cy="219456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2</a:t>
            </a:r>
            <a:endParaRPr lang="en-US" sz="1100" dirty="0">
              <a:latin typeface="+mn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1234440" y="2084832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44752" y="2194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교사 기록</a:t>
            </a:r>
            <a:endParaRPr lang="en-US" sz="1350" dirty="0">
              <a:latin typeface="+mn-ea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724912" y="219456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담당 학생을 찾아 항목별 달란트 지급</a:t>
            </a:r>
            <a:endParaRPr lang="en-US" sz="1140" dirty="0">
              <a:latin typeface="+mn-ea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22960" y="3072384"/>
            <a:ext cx="256032" cy="219456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3</a:t>
            </a:r>
            <a:endParaRPr lang="en-US" sz="11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1234440" y="2980944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444752" y="30906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학생 확인</a:t>
            </a:r>
            <a:endParaRPr lang="en-US" sz="1350" dirty="0">
              <a:latin typeface="+mn-ea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2724912" y="309067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내 달란트/내 구매 상품에서 상태 확인</a:t>
            </a:r>
            <a:endParaRPr lang="en-US" sz="1140" dirty="0">
              <a:latin typeface="+mn-ea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22960" y="3968496"/>
            <a:ext cx="256032" cy="219456"/>
          </a:xfrm>
          <a:prstGeom prst="rect">
            <a:avLst/>
          </a:prstGeom>
          <a:solidFill>
            <a:srgbClr val="6C5CE7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4</a:t>
            </a:r>
            <a:endParaRPr lang="en-US" sz="1100" dirty="0">
              <a:latin typeface="+mn-ea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1234440" y="3877056"/>
            <a:ext cx="42519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44752" y="39867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상품 교환</a:t>
            </a:r>
            <a:endParaRPr lang="en-US" sz="1350" dirty="0">
              <a:latin typeface="+mn-ea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2724912" y="39867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4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구매 신청 → 준비 → 구매 → 지급</a:t>
            </a:r>
            <a:endParaRPr lang="en-US" sz="1140" dirty="0">
              <a:latin typeface="+mn-ea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841248" y="5257800"/>
            <a:ext cx="5257800" cy="457200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5376672"/>
            <a:ext cx="4928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사이트의 목적은 “달란트를 주고, 확인하고, 상품으로 연결”하는 것입니다.</a:t>
            </a:r>
            <a:endParaRPr lang="en-US" sz="1200" dirty="0">
              <a:latin typeface="+mn-ea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03</a:t>
            </a:r>
            <a:endParaRPr lang="en-US" sz="900" dirty="0">
              <a:latin typeface="+mn-ea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2" b="15637"/>
          <a:stretch/>
        </p:blipFill>
        <p:spPr>
          <a:xfrm>
            <a:off x="7353366" y="416467"/>
            <a:ext cx="3169788" cy="549471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03820" y="5967708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603171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교사 가이드 화면</a:t>
            </a:r>
            <a:endParaRPr lang="en-US" sz="840" dirty="0"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교사 권한에 따라 보이는 메뉴가 다릅니다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“오류”보다 먼저 권한과 담당 부서/반 설정을 확인합니다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623479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일반 교사</a:t>
            </a:r>
            <a:endParaRPr lang="en-US" sz="1450" dirty="0">
              <a:latin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531230" y="1605191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6C5CE7"/>
          </a:solidFill>
          <a:ln w="12700">
            <a:solidFill>
              <a:srgbClr val="6C5CE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31230" y="1655483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40등급</a:t>
            </a:r>
            <a:endParaRPr lang="en-US" sz="85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53436" y="1527881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담당 부서/반 학생 달란트 처리</a:t>
            </a:r>
            <a:endParaRPr lang="en-US" sz="1020" dirty="0">
              <a:latin typeface="+mn-ea"/>
            </a:endParaRPr>
          </a:p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대리 구매 · 교사용 상품 구매</a:t>
            </a:r>
            <a:endParaRPr lang="en-US" sz="1020" dirty="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4688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7FFFC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791413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부서 담당 교사</a:t>
            </a:r>
            <a:endParaRPr lang="en-US" sz="1450" dirty="0">
              <a:latin typeface="+mn-ea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31230" y="2773125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32C48D"/>
          </a:solidFill>
          <a:ln w="12700">
            <a:solidFill>
              <a:srgbClr val="32C48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1230" y="2823417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60등급</a:t>
            </a:r>
            <a:endParaRPr lang="en-US" sz="85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53435" y="2704128"/>
            <a:ext cx="215375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r>
              <a:rPr lang="en-US" altLang="ko-KR" sz="1020" dirty="0" err="1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대시보드</a:t>
            </a:r>
            <a:endParaRPr lang="en-US" altLang="ko-KR" sz="1020" dirty="0" smtClean="0">
              <a:solidFill>
                <a:srgbClr val="667085"/>
              </a:solidFill>
              <a:latin typeface="+mn-ea"/>
              <a:cs typeface="NanumSquareRound" pitchFamily="34" charset="-120"/>
            </a:endParaRPr>
          </a:p>
          <a:p>
            <a:r>
              <a:rPr lang="en-US" sz="1020" dirty="0" err="1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담당</a:t>
            </a:r>
            <a:r>
              <a:rPr lang="en-US" sz="1020" dirty="0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부서 사용자/상품/구매 관리</a:t>
            </a:r>
            <a:endParaRPr lang="en-US" sz="1020" dirty="0">
              <a:latin typeface="+mn-ea"/>
            </a:endParaRPr>
          </a:p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Q&amp;A 답변 가능</a:t>
            </a:r>
            <a:endParaRPr lang="en-US" sz="102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603567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CF4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909475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부장 교사 이상</a:t>
            </a:r>
            <a:endParaRPr lang="en-US" sz="145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31230" y="3891187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FC247"/>
          </a:solidFill>
          <a:ln w="12700">
            <a:solidFill>
              <a:srgbClr val="FFC247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31230" y="3941479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80+등급</a:t>
            </a:r>
            <a:endParaRPr lang="en-US" sz="85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653436" y="3822190"/>
            <a:ext cx="21537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 err="1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보고서</a:t>
            </a:r>
            <a:r>
              <a:rPr lang="en-US" sz="1020" dirty="0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· </a:t>
            </a:r>
            <a:r>
              <a:rPr lang="en-US" sz="1020" dirty="0" err="1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반환</a:t>
            </a: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020" dirty="0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등</a:t>
            </a:r>
            <a:r>
              <a:rPr lang="en-US" sz="1020" dirty="0">
                <a:latin typeface="+mn-ea"/>
              </a:rPr>
              <a:t> </a:t>
            </a:r>
            <a:r>
              <a:rPr lang="en-US" sz="1020" dirty="0" err="1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운영</a:t>
            </a:r>
            <a:r>
              <a:rPr lang="en-US" sz="1020" dirty="0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관리 기능 추가</a:t>
            </a:r>
            <a:endParaRPr lang="en-US" sz="1020" dirty="0">
              <a:latin typeface="+mn-ea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896112" y="5166360"/>
            <a:ext cx="5212080" cy="457200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5285232"/>
            <a:ext cx="4882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일반 교사는 “담당 부서/반” 범위 안에서 주로 작업합니다.</a:t>
            </a:r>
            <a:endParaRPr lang="en-US" sz="1200" dirty="0">
              <a:latin typeface="+mn-ea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04</a:t>
            </a:r>
            <a:endParaRPr lang="en-US" sz="900" dirty="0">
              <a:latin typeface="+mn-ea"/>
            </a:endParaRPr>
          </a:p>
        </p:txBody>
      </p:sp>
      <p:sp>
        <p:nvSpPr>
          <p:cNvPr id="27" name="Shape 2"/>
          <p:cNvSpPr/>
          <p:nvPr/>
        </p:nvSpPr>
        <p:spPr>
          <a:xfrm>
            <a:off x="7257010" y="352459"/>
            <a:ext cx="3350029" cy="5948588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2" b="15637"/>
          <a:stretch/>
        </p:blipFill>
        <p:spPr>
          <a:xfrm>
            <a:off x="7353366" y="416467"/>
            <a:ext cx="3169788" cy="5494714"/>
          </a:xfrm>
          <a:prstGeom prst="rect">
            <a:avLst/>
          </a:prstGeom>
        </p:spPr>
      </p:pic>
      <p:sp>
        <p:nvSpPr>
          <p:cNvPr id="29" name="Shape 3"/>
          <p:cNvSpPr/>
          <p:nvPr/>
        </p:nvSpPr>
        <p:spPr>
          <a:xfrm>
            <a:off x="7703820" y="5967708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30" name="Text 4"/>
          <p:cNvSpPr/>
          <p:nvPr/>
        </p:nvSpPr>
        <p:spPr>
          <a:xfrm>
            <a:off x="7772400" y="603171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840" b="1" dirty="0" err="1">
                <a:solidFill>
                  <a:srgbClr val="FFFFFF"/>
                </a:solidFill>
                <a:latin typeface="+mn-ea"/>
                <a:cs typeface="NanumSquareRound" pitchFamily="34" charset="-120"/>
              </a:rPr>
              <a:t>상단</a:t>
            </a:r>
            <a:r>
              <a:rPr lang="en-US" altLang="ko-KR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altLang="ko-KR" sz="840" b="1" dirty="0" err="1">
                <a:solidFill>
                  <a:srgbClr val="FFFFFF"/>
                </a:solidFill>
                <a:latin typeface="+mn-ea"/>
                <a:cs typeface="NanumSquareRound" pitchFamily="34" charset="-120"/>
              </a:rPr>
              <a:t>메뉴는</a:t>
            </a:r>
            <a:r>
              <a:rPr lang="en-US" altLang="ko-KR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altLang="ko-KR" sz="840" b="1" dirty="0" err="1">
                <a:solidFill>
                  <a:srgbClr val="FFFFFF"/>
                </a:solidFill>
                <a:latin typeface="+mn-ea"/>
                <a:cs typeface="NanumSquareRound" pitchFamily="34" charset="-120"/>
              </a:rPr>
              <a:t>권한별로</a:t>
            </a:r>
            <a:r>
              <a:rPr lang="en-US" altLang="ko-KR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altLang="ko-KR" sz="840" b="1" dirty="0" err="1">
                <a:solidFill>
                  <a:srgbClr val="FFFFFF"/>
                </a:solidFill>
                <a:latin typeface="+mn-ea"/>
                <a:cs typeface="NanumSquareRound" pitchFamily="34" charset="-120"/>
              </a:rPr>
              <a:t>자동</a:t>
            </a:r>
            <a:r>
              <a:rPr lang="en-US" altLang="ko-KR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altLang="ko-KR" sz="840" b="1" dirty="0" err="1">
                <a:solidFill>
                  <a:srgbClr val="FFFFFF"/>
                </a:solidFill>
                <a:latin typeface="+mn-ea"/>
                <a:cs typeface="NanumSquareRound" pitchFamily="34" charset="-120"/>
              </a:rPr>
              <a:t>노출</a:t>
            </a:r>
            <a:endParaRPr lang="en-US" altLang="ko-KR" sz="840" dirty="0">
              <a:latin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첫 접속: 로그인과 계정 신청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 계정은 보통 관리자가 생성하거나 권한을 부여합니다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402377" y="1316736"/>
            <a:ext cx="2859579" cy="3637649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26821" y="4890377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99973" y="4954385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로그인</a:t>
            </a:r>
            <a:endParaRPr lang="en-US" sz="840" dirty="0">
              <a:latin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716684" y="1316736"/>
            <a:ext cx="2618509" cy="3637650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834965" y="4890378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08117" y="4954386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계정 등록 신청</a:t>
            </a:r>
            <a:endParaRPr lang="en-US" sz="840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14400" y="5440680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15568" y="5358384"/>
            <a:ext cx="9948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초기 비밀번호는 보통 1234, 첫 로그인 후 변경</a:t>
            </a:r>
            <a:endParaRPr lang="en-US" sz="1220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14400" y="5824728"/>
            <a:ext cx="109728" cy="109728"/>
          </a:xfrm>
          <a:prstGeom prst="ellipse">
            <a:avLst/>
          </a:prstGeom>
          <a:solidFill>
            <a:srgbClr val="32C48D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15568" y="5742432"/>
            <a:ext cx="9948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계정 신청 화면은 기본 학생 신청 흐름</a:t>
            </a:r>
            <a:endParaRPr lang="en-US" sz="122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14400" y="6208776"/>
            <a:ext cx="109728" cy="109728"/>
          </a:xfrm>
          <a:prstGeom prst="ellipse">
            <a:avLst/>
          </a:prstGeom>
          <a:solidFill>
            <a:srgbClr val="FFC247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15568" y="6126480"/>
            <a:ext cx="9948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교사 권한은 관리자에게 별도 확인 필요</a:t>
            </a:r>
            <a:endParaRPr lang="en-US" sz="1220" dirty="0">
              <a:latin typeface="+mn-ea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05</a:t>
            </a:r>
            <a:endParaRPr lang="en-US" sz="900" dirty="0">
              <a:latin typeface="+mn-ea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54" b="17819"/>
          <a:stretch/>
        </p:blipFill>
        <p:spPr>
          <a:xfrm>
            <a:off x="2535381" y="1416108"/>
            <a:ext cx="2635136" cy="3462216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64" b="17333"/>
          <a:stretch/>
        </p:blipFill>
        <p:spPr>
          <a:xfrm>
            <a:off x="6816437" y="1414009"/>
            <a:ext cx="2423400" cy="3476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학생에게 설명할 때 쓰는 화면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학생 가이드와 달란트 적립 기준은 교사의 안내 대본이 됩니다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607705" y="1115568"/>
            <a:ext cx="2327564" cy="3849624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79031" y="1115568"/>
            <a:ext cx="2352503" cy="3849624"/>
          </a:xfrm>
          <a:prstGeom prst="roundRect">
            <a:avLst>
              <a:gd name="adj" fmla="val 2850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5349240"/>
            <a:ext cx="10378440" cy="457200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78992" y="5468112"/>
            <a:ext cx="100492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학생에게는 “달란트는 활동 후 선생님이 기록하고, 구매는 신청 후 처리된다”고 설명합니다.</a:t>
            </a:r>
            <a:endParaRPr lang="en-US" sz="1200" dirty="0">
              <a:latin typeface="+mn-ea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06</a:t>
            </a:r>
            <a:endParaRPr lang="en-US" sz="900" dirty="0">
              <a:latin typeface="+mn-ea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" b="15394"/>
          <a:stretch/>
        </p:blipFill>
        <p:spPr>
          <a:xfrm>
            <a:off x="2725978" y="1205345"/>
            <a:ext cx="2126018" cy="367422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" b="15879"/>
          <a:stretch/>
        </p:blipFill>
        <p:spPr>
          <a:xfrm>
            <a:off x="6928661" y="1269068"/>
            <a:ext cx="2061254" cy="35406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30397" y="4936102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603549" y="5000110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학생 가이드</a:t>
            </a:r>
            <a:endParaRPr lang="en-US" sz="840" dirty="0">
              <a:latin typeface="+mn-ea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6726662" y="4959646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799814" y="5023654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달란트 적립 방법</a:t>
            </a:r>
            <a:endParaRPr lang="en-US" sz="840" dirty="0"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내 달란트: 교사 본인의 달란트 통장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교사도 본인 달란트와 구매 대기 상태를 확인합니다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161310" y="1050729"/>
            <a:ext cx="2688336" cy="4535424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724996" y="1042416"/>
            <a:ext cx="2701637" cy="4562856"/>
          </a:xfrm>
          <a:prstGeom prst="roundRect">
            <a:avLst>
              <a:gd name="adj" fmla="val 2419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58064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2CB"/>
          </a:solidFill>
          <a:ln w="12700">
            <a:solidFill>
              <a:srgbClr val="FFF2CB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24128" y="58704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사용 가능</a:t>
            </a:r>
            <a:endParaRPr lang="en-US" sz="880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3099816" y="58064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0F2FE"/>
          </a:solidFill>
          <a:ln w="12700">
            <a:solidFill>
              <a:srgbClr val="E0F2FE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163824" y="58704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0277BD"/>
                </a:solidFill>
                <a:latin typeface="+mn-ea"/>
                <a:cs typeface="NanumSquareRound" pitchFamily="34" charset="-120"/>
              </a:rPr>
              <a:t>수령 대기 상품</a:t>
            </a:r>
            <a:endParaRPr lang="en-US" sz="88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5239512" y="58064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F3C4"/>
          </a:solidFill>
          <a:ln w="12700">
            <a:solidFill>
              <a:srgbClr val="FFF3C4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303520" y="58704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B45309"/>
                </a:solidFill>
                <a:latin typeface="+mn-ea"/>
                <a:cs typeface="NanumSquareRound" pitchFamily="34" charset="-120"/>
              </a:rPr>
              <a:t>사용 대기</a:t>
            </a:r>
            <a:endParaRPr lang="en-US" sz="880" dirty="0">
              <a:latin typeface="+mn-ea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7379208" y="58064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4F4F5"/>
          </a:solidFill>
          <a:ln w="12700">
            <a:solidFill>
              <a:srgbClr val="F4F4F5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43216" y="58704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2525B"/>
                </a:solidFill>
                <a:latin typeface="+mn-ea"/>
                <a:cs typeface="NanumSquareRound" pitchFamily="34" charset="-120"/>
              </a:rPr>
              <a:t>사용 완료</a:t>
            </a:r>
            <a:endParaRPr lang="en-US" sz="880" dirty="0">
              <a:latin typeface="+mn-ea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9518904" y="58064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E7F8ED"/>
          </a:solidFill>
          <a:ln w="12700">
            <a:solidFill>
              <a:srgbClr val="E7F8ED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582912" y="5870448"/>
            <a:ext cx="1289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78C67"/>
                </a:solidFill>
                <a:latin typeface="+mn-ea"/>
                <a:cs typeface="NanumSquareRound" pitchFamily="34" charset="-120"/>
              </a:rPr>
              <a:t>누적 적립</a:t>
            </a:r>
            <a:endParaRPr lang="en-US" sz="880" dirty="0">
              <a:latin typeface="+mn-ea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07</a:t>
            </a:r>
            <a:endParaRPr lang="en-US" sz="900" dirty="0">
              <a:latin typeface="+mn-ea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5" b="15273"/>
          <a:stretch/>
        </p:blipFill>
        <p:spPr>
          <a:xfrm>
            <a:off x="2260453" y="1139259"/>
            <a:ext cx="2453473" cy="42594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98470" y="5458137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71622" y="5522145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현황 카드</a:t>
            </a:r>
            <a:endParaRPr lang="en-US" sz="840" dirty="0">
              <a:latin typeface="+mn-ea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9" b="6182"/>
          <a:stretch/>
        </p:blipFill>
        <p:spPr>
          <a:xfrm>
            <a:off x="6936971" y="1136973"/>
            <a:ext cx="2276935" cy="438288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863819" y="5455851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936971" y="5519859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적립·구매 내역</a:t>
            </a:r>
            <a:endParaRPr lang="en-US" sz="840" dirty="0">
              <a:latin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QR 달란트 수령: 교사 활동 보상 받기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QR은 학생에게 지급하는 기능이 아니라, 본인이 받는 기능입니다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270157" y="1175004"/>
            <a:ext cx="2626039" cy="3877056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693409" y="1115568"/>
            <a:ext cx="2633472" cy="3936492"/>
          </a:xfrm>
          <a:prstGeom prst="roundRect">
            <a:avLst>
              <a:gd name="adj" fmla="val 2721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60120" y="5404104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61288" y="5321808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대상: 학생용/교사용 QR 구분</a:t>
            </a:r>
            <a:endParaRPr lang="en-US" sz="1250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60120" y="5788152"/>
            <a:ext cx="109728" cy="109728"/>
          </a:xfrm>
          <a:prstGeom prst="ellipse">
            <a:avLst/>
          </a:prstGeom>
          <a:solidFill>
            <a:srgbClr val="32C48D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61288" y="5705856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조건: 활성 상태, 유효기간, 중복 수령 여부 확인</a:t>
            </a:r>
            <a:endParaRPr lang="en-US" sz="125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60120" y="6172200"/>
            <a:ext cx="109728" cy="109728"/>
          </a:xfrm>
          <a:prstGeom prst="ellipse">
            <a:avLst/>
          </a:prstGeom>
          <a:solidFill>
            <a:srgbClr val="FFC247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61288" y="6089904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위치 제한 QR은 브라우저 위치 권한 필요</a:t>
            </a:r>
            <a:endParaRPr lang="en-US" sz="1250" dirty="0">
              <a:latin typeface="+mn-ea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08</a:t>
            </a:r>
            <a:endParaRPr lang="en-US" sz="900" dirty="0">
              <a:latin typeface="+mn-ea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6" b="17333"/>
          <a:stretch/>
        </p:blipFill>
        <p:spPr>
          <a:xfrm>
            <a:off x="2415997" y="1251481"/>
            <a:ext cx="2250353" cy="38005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32504" y="4897443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05656" y="4961451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QR 목록</a:t>
            </a:r>
            <a:endParaRPr lang="en-US" sz="840" dirty="0">
              <a:latin typeface="+mn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49" b="14909"/>
          <a:stretch/>
        </p:blipFill>
        <p:spPr>
          <a:xfrm>
            <a:off x="6930322" y="1214074"/>
            <a:ext cx="2210711" cy="383798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766561" y="4901184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839713" y="4965192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카메라 스캔</a:t>
            </a:r>
            <a:endParaRPr lang="en-US" sz="840" dirty="0">
              <a:latin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핵심 1. 달란트 관리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학생 활동을 실제 달란트로 기록하는 가장 중요한 화면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30936" y="1115568"/>
            <a:ext cx="7640228" cy="4352544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613648" y="1170432"/>
            <a:ext cx="24505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15310" y="910451"/>
            <a:ext cx="2448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1  출석 버튼</a:t>
            </a:r>
            <a:endParaRPr lang="en-US" sz="15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8678485" y="1298449"/>
            <a:ext cx="2319248" cy="687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당일 중복 지급을 막으며 즉시 지급</a:t>
            </a:r>
            <a:endParaRPr lang="en-US" sz="1080" dirty="0">
              <a:latin typeface="+mn-e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8613648" y="2773749"/>
            <a:ext cx="24505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13647" y="2513768"/>
            <a:ext cx="24505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2  달란트 지급</a:t>
            </a:r>
            <a:endParaRPr lang="en-US" sz="150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678485" y="2880569"/>
            <a:ext cx="2319248" cy="683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관리 메뉴에서 항목 체크 후 지급 확정</a:t>
            </a:r>
            <a:endParaRPr lang="en-US" sz="1080" dirty="0">
              <a:latin typeface="+mn-e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8613648" y="4475573"/>
            <a:ext cx="24505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15310" y="4184211"/>
            <a:ext cx="24489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3  상세 확인</a:t>
            </a:r>
            <a:endParaRPr lang="en-US" sz="1500" dirty="0">
              <a:latin typeface="+mn-ea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678485" y="4588626"/>
            <a:ext cx="2319248" cy="68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누가, 언제, </a:t>
            </a:r>
            <a:r>
              <a:rPr lang="en-US" sz="1080" dirty="0" err="1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어떤</a:t>
            </a: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080" dirty="0" err="1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항목으로</a:t>
            </a:r>
            <a:endParaRPr lang="en-US" sz="1080" dirty="0" smtClean="0">
              <a:solidFill>
                <a:srgbClr val="667085"/>
              </a:solidFill>
              <a:latin typeface="+mn-ea"/>
              <a:cs typeface="NanumSquareRound" pitchFamily="34" charset="-120"/>
            </a:endParaRPr>
          </a:p>
          <a:p>
            <a:pPr marL="0" indent="0">
              <a:buNone/>
            </a:pPr>
            <a:r>
              <a:rPr lang="en-US" sz="1080" dirty="0" err="1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지급했는지</a:t>
            </a:r>
            <a:r>
              <a:rPr lang="en-US" sz="1080" dirty="0" smtClean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확인</a:t>
            </a:r>
            <a:endParaRPr lang="en-US" sz="1080" dirty="0">
              <a:latin typeface="+mn-e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883706" y="5689231"/>
            <a:ext cx="4729942" cy="470500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21743" y="5775683"/>
            <a:ext cx="4375528" cy="304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일반 교사는 담당 부서/반 학생 중심으로 작업합니다.</a:t>
            </a:r>
            <a:endParaRPr lang="en-US" sz="1200" dirty="0">
              <a:latin typeface="+mn-ea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09</a:t>
            </a:r>
            <a:endParaRPr lang="en-US" sz="900" dirty="0">
              <a:latin typeface="+mn-ea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6" b="16848"/>
          <a:stretch/>
        </p:blipFill>
        <p:spPr>
          <a:xfrm>
            <a:off x="747169" y="1298448"/>
            <a:ext cx="2383700" cy="4050792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86" b="16000"/>
          <a:stretch/>
        </p:blipFill>
        <p:spPr>
          <a:xfrm>
            <a:off x="3234615" y="1298449"/>
            <a:ext cx="2354630" cy="4050792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5" b="17697"/>
          <a:stretch/>
        </p:blipFill>
        <p:spPr>
          <a:xfrm>
            <a:off x="5692991" y="1298447"/>
            <a:ext cx="2409732" cy="405079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핵심 2. 상품 구매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교사용 상품은 직접 신청, 학생용 상품은 조회 또는 대리 구매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11927" y="1042416"/>
            <a:ext cx="2676698" cy="4187952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27243" y="1057794"/>
            <a:ext cx="2682517" cy="4099005"/>
          </a:xfrm>
          <a:prstGeom prst="roundRect">
            <a:avLst>
              <a:gd name="adj" fmla="val 2603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914400" y="5440680"/>
            <a:ext cx="109728" cy="109728"/>
          </a:xfrm>
          <a:prstGeom prst="ellipse">
            <a:avLst/>
          </a:prstGeom>
          <a:solidFill>
            <a:srgbClr val="6C5CE7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115568" y="5358384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교사 로그인 시 교사용 탭이 기본 선택됩니다.</a:t>
            </a:r>
            <a:endParaRPr lang="en-US" sz="1220" dirty="0"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914400" y="5824728"/>
            <a:ext cx="109728" cy="109728"/>
          </a:xfrm>
          <a:prstGeom prst="ellipse">
            <a:avLst/>
          </a:prstGeom>
          <a:solidFill>
            <a:srgbClr val="32C48D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115568" y="5742432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학생용 상품은 가격과 재고 확인용으로 볼 수 있습니다.</a:t>
            </a:r>
            <a:endParaRPr lang="en-US" sz="122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914400" y="6208776"/>
            <a:ext cx="109728" cy="109728"/>
          </a:xfrm>
          <a:prstGeom prst="ellipse">
            <a:avLst/>
          </a:prstGeom>
          <a:solidFill>
            <a:srgbClr val="FFC247"/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15568" y="6126480"/>
            <a:ext cx="9857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학생 상품 신청은 대리 구매 버튼으로 진행합니다.</a:t>
            </a:r>
            <a:endParaRPr lang="en-US" sz="1220" dirty="0">
              <a:latin typeface="+mn-ea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10</a:t>
            </a:r>
            <a:endParaRPr lang="en-US" sz="900" dirty="0">
              <a:latin typeface="+mn-ea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" b="15758"/>
          <a:stretch/>
        </p:blipFill>
        <p:spPr>
          <a:xfrm>
            <a:off x="2086236" y="1103929"/>
            <a:ext cx="2301479" cy="3959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20824" y="5077412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093976" y="5141420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교사용 상품 탭</a:t>
            </a:r>
            <a:endParaRPr lang="en-US" sz="840" dirty="0">
              <a:latin typeface="+mn-ea"/>
            </a:endParaRP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5" b="15273"/>
          <a:stretch/>
        </p:blipFill>
        <p:spPr>
          <a:xfrm>
            <a:off x="7034269" y="1119307"/>
            <a:ext cx="2329147" cy="403749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964403" y="5086973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037555" y="5150981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학생용 상품 탭</a:t>
            </a:r>
            <a:endParaRPr lang="en-US" sz="840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대리 구매: 학생 명의로 대신 신청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선생님 달란트로 사는 것이 아니라 학생의 사용 가능 달란트로 신청합니다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78903" y="1253068"/>
            <a:ext cx="2342718" cy="2319866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78903" y="3886201"/>
            <a:ext cx="2342718" cy="1993390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86603" y="1288150"/>
            <a:ext cx="3265462" cy="4671431"/>
          </a:xfrm>
          <a:prstGeom prst="roundRect">
            <a:avLst>
              <a:gd name="adj" fmla="val 4781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85667" y="1288149"/>
            <a:ext cx="3191718" cy="4671432"/>
          </a:xfrm>
          <a:prstGeom prst="roundRect">
            <a:avLst>
              <a:gd name="adj" fmla="val 4979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25" name="Text 18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11</a:t>
            </a:r>
            <a:endParaRPr lang="en-US" sz="900" dirty="0">
              <a:latin typeface="+mn-ea"/>
            </a:endParaRPr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7" b="47030"/>
          <a:stretch/>
        </p:blipFill>
        <p:spPr>
          <a:xfrm>
            <a:off x="1227968" y="1313248"/>
            <a:ext cx="2044588" cy="2134039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18" b="40121"/>
          <a:stretch/>
        </p:blipFill>
        <p:spPr>
          <a:xfrm>
            <a:off x="1227968" y="4024583"/>
            <a:ext cx="1985689" cy="1806983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2" b="13092"/>
          <a:stretch/>
        </p:blipFill>
        <p:spPr>
          <a:xfrm>
            <a:off x="4419732" y="1414341"/>
            <a:ext cx="3018576" cy="4417225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94" b="10909"/>
          <a:stretch/>
        </p:blipFill>
        <p:spPr>
          <a:xfrm>
            <a:off x="8229468" y="1414342"/>
            <a:ext cx="2929330" cy="4417224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334256" y="5815583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407408" y="5879591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3. 상품 선택</a:t>
            </a:r>
            <a:endParaRPr lang="en-US" sz="840" dirty="0">
              <a:latin typeface="+mn-ea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8156316" y="5815583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8229468" y="5879591"/>
            <a:ext cx="2331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잔액부족 표시</a:t>
            </a:r>
            <a:endParaRPr lang="en-US" sz="840" dirty="0">
              <a:latin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149878" y="3500680"/>
            <a:ext cx="1788055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223030" y="3572934"/>
            <a:ext cx="1554037" cy="1197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1. 학생 검색</a:t>
            </a:r>
            <a:endParaRPr lang="en-US" sz="840" dirty="0">
              <a:latin typeface="+mn-ea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149878" y="5767557"/>
            <a:ext cx="1783545" cy="256032"/>
          </a:xfrm>
          <a:prstGeom prst="roundRect">
            <a:avLst>
              <a:gd name="adj" fmla="val 28571"/>
            </a:avLst>
          </a:prstGeom>
          <a:solidFill>
            <a:srgbClr val="263238">
              <a:alpha val="92000"/>
            </a:srgbClr>
          </a:solidFill>
          <a:ln w="12700">
            <a:solidFill>
              <a:srgbClr val="263238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223030" y="5831565"/>
            <a:ext cx="15540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4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2. 학생 선택</a:t>
            </a:r>
            <a:endParaRPr lang="en-US" sz="840" dirty="0">
              <a:latin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구매 상태 확인: 4단계 흐름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내 구매 상품은 본인 명의 신청만 보여줍니다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628740" y="1623060"/>
            <a:ext cx="3308465" cy="4306824"/>
          </a:xfrm>
          <a:prstGeom prst="roundRect">
            <a:avLst>
              <a:gd name="adj" fmla="val 2548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37960" y="1554480"/>
            <a:ext cx="42519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93992" y="171907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구매 신청</a:t>
            </a:r>
            <a:endParaRPr lang="en-US" sz="135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8138160" y="1682496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신청만 완료</a:t>
            </a:r>
            <a:endParaRPr lang="en-US" sz="1080" dirty="0">
              <a:latin typeface="+mn-ea"/>
            </a:endParaRPr>
          </a:p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취소 가능</a:t>
            </a:r>
            <a:endParaRPr lang="en-US" sz="1080" dirty="0">
              <a:latin typeface="+mn-ea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49640" y="226771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5CE7"/>
                </a:solidFill>
                <a:latin typeface="+mn-ea"/>
              </a:rPr>
              <a:t>↓</a:t>
            </a:r>
            <a:endParaRPr lang="en-US" sz="1200" dirty="0">
              <a:latin typeface="+mn-ea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537960" y="2542032"/>
            <a:ext cx="4251960" cy="713232"/>
          </a:xfrm>
          <a:prstGeom prst="roundRect">
            <a:avLst>
              <a:gd name="adj" fmla="val 15385"/>
            </a:avLst>
          </a:prstGeom>
          <a:solidFill>
            <a:srgbClr val="F7FB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93992" y="2706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상품 준비</a:t>
            </a:r>
            <a:endParaRPr lang="en-US" sz="1350" dirty="0">
              <a:latin typeface="+mn-ea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138160" y="2670048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담당자가 확인</a:t>
            </a:r>
            <a:endParaRPr lang="en-US" sz="1080" dirty="0">
              <a:latin typeface="+mn-ea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549640" y="32552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5CE7"/>
                </a:solidFill>
                <a:latin typeface="+mn-ea"/>
              </a:rPr>
              <a:t>↓</a:t>
            </a:r>
            <a:endParaRPr lang="en-US" sz="1200" dirty="0">
              <a:latin typeface="+mn-ea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537960" y="3529584"/>
            <a:ext cx="4251960" cy="713232"/>
          </a:xfrm>
          <a:prstGeom prst="roundRect">
            <a:avLst>
              <a:gd name="adj" fmla="val 15385"/>
            </a:avLst>
          </a:prstGeom>
          <a:solidFill>
            <a:srgbClr val="FFF8E8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93992" y="36941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상품 구매</a:t>
            </a:r>
            <a:endParaRPr lang="en-US" sz="1350" dirty="0">
              <a:latin typeface="+mn-ea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38160" y="365760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달란트 실제 차감</a:t>
            </a:r>
            <a:endParaRPr lang="en-US" sz="1080" dirty="0">
              <a:latin typeface="+mn-ea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549640" y="4242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C5CE7"/>
                </a:solidFill>
                <a:latin typeface="+mn-ea"/>
              </a:rPr>
              <a:t>↓</a:t>
            </a:r>
            <a:endParaRPr lang="en-US" sz="1200" dirty="0">
              <a:latin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537960" y="4517136"/>
            <a:ext cx="4251960" cy="713232"/>
          </a:xfrm>
          <a:prstGeom prst="roundRect">
            <a:avLst>
              <a:gd name="adj" fmla="val 15385"/>
            </a:avLst>
          </a:prstGeom>
          <a:solidFill>
            <a:srgbClr val="F0FFF8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93992" y="46817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상품 지급</a:t>
            </a:r>
            <a:endParaRPr lang="en-US" sz="1350" dirty="0">
              <a:latin typeface="+mn-ea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138160" y="464515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전달 완료</a:t>
            </a:r>
            <a:endParaRPr lang="en-US" sz="1080" dirty="0">
              <a:latin typeface="+mn-ea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37960" y="5532119"/>
            <a:ext cx="4251960" cy="702425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02552" y="5650991"/>
            <a:ext cx="3922776" cy="4921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대리 구매는 학생 </a:t>
            </a:r>
            <a:r>
              <a:rPr lang="en-US" sz="1200" b="1" dirty="0" err="1">
                <a:solidFill>
                  <a:srgbClr val="7A4D00"/>
                </a:solidFill>
                <a:latin typeface="+mn-ea"/>
                <a:cs typeface="NanumSquareRound" pitchFamily="34" charset="-120"/>
              </a:rPr>
              <a:t>명의</a:t>
            </a: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200" b="1" dirty="0" err="1" smtClean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주문이므로</a:t>
            </a:r>
            <a:endParaRPr lang="en-US" sz="1200" b="1" dirty="0" smtClean="0">
              <a:solidFill>
                <a:srgbClr val="7A4D00"/>
              </a:solidFill>
              <a:latin typeface="+mn-ea"/>
              <a:cs typeface="NanumSquareRound" pitchFamily="34" charset="-120"/>
            </a:endParaRPr>
          </a:p>
          <a:p>
            <a:pPr marL="0" indent="0">
              <a:buNone/>
            </a:pPr>
            <a:r>
              <a:rPr lang="en-US" sz="1200" b="1" dirty="0" err="1" smtClean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교사</a:t>
            </a:r>
            <a:r>
              <a:rPr lang="en-US" sz="1200" b="1" dirty="0" smtClean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 </a:t>
            </a: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본인 화면에는 보이지 않을 수 있습니다.</a:t>
            </a:r>
            <a:endParaRPr lang="en-US" sz="1200" dirty="0">
              <a:latin typeface="+mn-ea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12</a:t>
            </a:r>
            <a:endParaRPr lang="en-US" sz="900" dirty="0">
              <a:latin typeface="+mn-ea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42" b="33212"/>
          <a:stretch/>
        </p:blipFill>
        <p:spPr>
          <a:xfrm>
            <a:off x="1808915" y="1795963"/>
            <a:ext cx="2946797" cy="398761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Q &amp; A와 현장 문제 대응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자주 묻는 질문은 먼저 Q&amp;A에서 확인합니다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45179" y="1369937"/>
            <a:ext cx="2327563" cy="4489704"/>
          </a:xfrm>
          <a:prstGeom prst="roundRect">
            <a:avLst>
              <a:gd name="adj" fmla="val 2444"/>
            </a:avLst>
          </a:prstGeom>
          <a:solidFill>
            <a:srgbClr val="FFFFFF"/>
          </a:solidFill>
          <a:ln w="12700">
            <a:solidFill>
              <a:srgbClr val="E9E4FF"/>
            </a:solidFill>
            <a:prstDash val="solid"/>
          </a:ln>
          <a:effectLst>
            <a:outerShdw blurRad="19050" dist="50800" dir="2700000" algn="bl" rotWithShape="0">
              <a:srgbClr val="D6CCF4">
                <a:alpha val="17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46520" y="1435608"/>
            <a:ext cx="47091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18591" y="1688319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로그인이 안 돼요</a:t>
            </a:r>
            <a:endParaRPr lang="en-US" sz="118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71164" y="1637610"/>
            <a:ext cx="2719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아이디/비밀번호, 승인 여부, 최초 비밀번호 변경 상태 확인</a:t>
            </a:r>
            <a:endParaRPr lang="en-US" sz="980" dirty="0">
              <a:latin typeface="+mn-e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46520" y="2350008"/>
            <a:ext cx="47091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18591" y="2602719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메뉴가 안 보여요</a:t>
            </a:r>
            <a:endParaRPr lang="en-US" sz="1180" dirty="0">
              <a:latin typeface="+mn-ea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71164" y="2552010"/>
            <a:ext cx="2719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권한이 낮거나 담당 부서/반 설정이 없을 수 있음</a:t>
            </a:r>
            <a:endParaRPr lang="en-US" sz="980" dirty="0">
              <a:latin typeface="+mn-ea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446520" y="3264408"/>
            <a:ext cx="47091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18591" y="3517119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구매 후 달란트가 안 줄었어요</a:t>
            </a:r>
            <a:endParaRPr lang="en-US" sz="1180" dirty="0">
              <a:latin typeface="+mn-ea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71164" y="3433158"/>
            <a:ext cx="2719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구매 신청 단계는 사용 대기, 구매 확정 때 차감</a:t>
            </a:r>
            <a:endParaRPr lang="en-US" sz="980" dirty="0">
              <a:latin typeface="+mn-ea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46520" y="4178808"/>
            <a:ext cx="470916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18591" y="4431519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대리 구매 대상이 안 나와요</a:t>
            </a:r>
            <a:endParaRPr lang="en-US" sz="1180" dirty="0">
              <a:latin typeface="+mn-ea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271164" y="4364184"/>
            <a:ext cx="27199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담당 범위 밖 학생은 검색되지 않을 수 있음</a:t>
            </a:r>
            <a:endParaRPr lang="en-US" sz="980" dirty="0">
              <a:latin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46520" y="5340096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611112" y="5458968"/>
            <a:ext cx="4379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일반 교사는 질문 확인·등록, 부서 담당 교사 이상은 답변/FAQ 관리가 가능합니다.</a:t>
            </a:r>
            <a:endParaRPr lang="en-US" sz="1200" dirty="0">
              <a:latin typeface="+mn-ea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13</a:t>
            </a:r>
            <a:endParaRPr lang="en-US" sz="900" dirty="0">
              <a:latin typeface="+mn-ea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05" b="121"/>
          <a:stretch/>
        </p:blipFill>
        <p:spPr>
          <a:xfrm>
            <a:off x="2081178" y="1497122"/>
            <a:ext cx="2040602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운영 구조를 한 장으로 이해하기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교사는 화면만 쓰지만, 뒤에서는 권한과 데이터가 안전하게 처리됩니다</a:t>
            </a:r>
            <a:endParaRPr lang="en-US" sz="1250" dirty="0">
              <a:latin typeface="+mn-ea"/>
            </a:endParaRPr>
          </a:p>
        </p:txBody>
      </p:sp>
      <p:sp>
        <p:nvSpPr>
          <p:cNvPr id="4" name="Text 2"/>
          <p:cNvSpPr/>
          <p:nvPr/>
        </p:nvSpPr>
        <p:spPr>
          <a:xfrm>
            <a:off x="3163824" y="23042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+mn-ea"/>
              </a:rPr>
              <a:t>→</a:t>
            </a:r>
            <a:endParaRPr lang="en-US" sz="16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5980176" y="23042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+mn-ea"/>
              </a:rPr>
              <a:t>→</a:t>
            </a:r>
            <a:endParaRPr lang="en-US" sz="16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8796528" y="230428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C5CE7"/>
                </a:solidFill>
                <a:latin typeface="+mn-ea"/>
              </a:rPr>
              <a:t>→</a:t>
            </a:r>
            <a:endParaRPr lang="en-US" sz="1600" dirty="0">
              <a:latin typeface="+mn-ea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196596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AD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13055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교사 브라우저</a:t>
            </a:r>
            <a:endParaRPr lang="en-US" sz="135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33272" y="246888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로그인·메뉴</a:t>
            </a:r>
            <a:endParaRPr lang="en-US" sz="950" dirty="0">
              <a:latin typeface="+mn-ea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달란트/상품 화면</a:t>
            </a:r>
            <a:endParaRPr lang="en-US" sz="95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0" y="196596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FBFBFF"/>
          </a:solidFill>
          <a:ln w="12700">
            <a:solidFill>
              <a:srgbClr val="DAD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03904" y="213055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GitHub Pages</a:t>
            </a:r>
            <a:endParaRPr lang="en-US" sz="135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22192" y="246888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정적 HTML/CSS/JS</a:t>
            </a:r>
            <a:endParaRPr lang="en-US" sz="950" dirty="0">
              <a:latin typeface="+mn-ea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화면 제공</a:t>
            </a:r>
            <a:endParaRPr lang="en-US" sz="950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37960" y="196596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F7FFFC"/>
          </a:solidFill>
          <a:ln w="12700">
            <a:solidFill>
              <a:srgbClr val="DAD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84264" y="213055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Supabase</a:t>
            </a:r>
            <a:endParaRPr lang="en-US" sz="135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02552" y="2468880"/>
            <a:ext cx="1819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Auth · PostgreSQL</a:t>
            </a:r>
            <a:endParaRPr lang="en-US" sz="950" dirty="0">
              <a:latin typeface="+mn-ea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RPC · RLS</a:t>
            </a:r>
            <a:endParaRPr lang="en-US" sz="95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345168" y="1965960"/>
            <a:ext cx="2057400" cy="1005840"/>
          </a:xfrm>
          <a:prstGeom prst="roundRect">
            <a:avLst>
              <a:gd name="adj" fmla="val 10909"/>
            </a:avLst>
          </a:prstGeom>
          <a:solidFill>
            <a:srgbClr val="FFFCF4"/>
          </a:solidFill>
          <a:ln w="12700">
            <a:solidFill>
              <a:srgbClr val="DAD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91472" y="2130552"/>
            <a:ext cx="1764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운영 데이터</a:t>
            </a:r>
            <a:endParaRPr lang="en-US" sz="135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509760" y="2468880"/>
            <a:ext cx="17282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profiles · transactions</a:t>
            </a:r>
            <a:endParaRPr lang="en-US" sz="950" dirty="0">
              <a:latin typeface="+mn-ea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products · orders</a:t>
            </a:r>
            <a:endParaRPr lang="en-US" sz="950" dirty="0">
              <a:latin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097280" y="3977640"/>
            <a:ext cx="3063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권한 제어</a:t>
            </a:r>
            <a:endParaRPr lang="en-US" sz="1250" dirty="0">
              <a:latin typeface="+mn-ea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423160" y="41239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보이는 메뉴와 페이지 접근은 permission_level 기준으로 제한</a:t>
            </a:r>
            <a:endParaRPr lang="en-US" sz="870" dirty="0">
              <a:latin typeface="+mn-ea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54880" y="3977640"/>
            <a:ext cx="3063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데이터 보호</a:t>
            </a:r>
            <a:endParaRPr lang="en-US" sz="1250" dirty="0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80760" y="41239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민감 작업은 Supabase RLS와 RPC에서 한 번 더 검증</a:t>
            </a:r>
            <a:endParaRPr lang="en-US" sz="870" dirty="0">
              <a:latin typeface="+mn-ea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412480" y="3977640"/>
            <a:ext cx="3063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운영 추적</a:t>
            </a:r>
            <a:endParaRPr lang="en-US" sz="125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38360" y="4123944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7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로그인·오류·관리 작업은 활동 로그에 기록</a:t>
            </a:r>
            <a:endParaRPr lang="en-US" sz="870" dirty="0">
              <a:latin typeface="+mn-ea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554480" y="5504688"/>
            <a:ext cx="8961120" cy="457200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719072" y="562356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발표 중에는 기술 용어보다 “권한이 다르면 메뉴가 다르다”는 점만 강조하세요.</a:t>
            </a:r>
            <a:endParaRPr lang="en-US" sz="1200" dirty="0">
              <a:latin typeface="+mn-ea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14</a:t>
            </a:r>
            <a:endParaRPr lang="en-US" sz="9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추천 시연 순서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15분 발표라면 화면 전환은 이 순서가 가장 자연스럽습니다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435608"/>
            <a:ext cx="329184" cy="32918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49961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1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로그인</a:t>
            </a:r>
            <a:endParaRPr lang="en-US" sz="1300" dirty="0">
              <a:latin typeface="+mn-ea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63240" y="14081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 계정으로 접속, 메뉴 확인</a:t>
            </a:r>
            <a:endParaRPr lang="en-US" sz="1020" dirty="0">
              <a:latin typeface="+mn-e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28600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487168"/>
            <a:ext cx="329184" cy="32918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55117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2</a:t>
            </a:r>
            <a:endParaRPr lang="en-US" sz="900" dirty="0">
              <a:latin typeface="+mn-ea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달란트 관리</a:t>
            </a:r>
            <a:endParaRPr lang="en-US" sz="13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63240" y="24597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출석 버튼과 항목 지급 시연</a:t>
            </a:r>
            <a:endParaRPr lang="en-US" sz="1020" dirty="0">
              <a:latin typeface="+mn-e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33756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3538728"/>
            <a:ext cx="329184" cy="32918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60273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3</a:t>
            </a:r>
            <a:endParaRPr lang="en-US" sz="90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554480" y="3520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내 달란트</a:t>
            </a:r>
            <a:endParaRPr lang="en-US" sz="130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063240" y="35112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본인 잔액·사용 대기 의미 설명</a:t>
            </a:r>
            <a:endParaRPr lang="en-US" sz="1020" dirty="0">
              <a:latin typeface="+mn-ea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00800" y="123444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1435608"/>
            <a:ext cx="329184" cy="32918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149961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4</a:t>
            </a:r>
            <a:endParaRPr lang="en-US" sz="900" dirty="0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0" y="14173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상품 구매</a:t>
            </a:r>
            <a:endParaRPr lang="en-US" sz="130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641080" y="140817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교사용 상품 직접 신청 흐름</a:t>
            </a:r>
            <a:endParaRPr lang="en-US" sz="1020" dirty="0">
              <a:latin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228600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29400" y="2487168"/>
            <a:ext cx="329184" cy="32918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55117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5</a:t>
            </a:r>
            <a:endParaRPr lang="en-US" sz="900" dirty="0">
              <a:latin typeface="+mn-ea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32320" y="24688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대리 구매</a:t>
            </a:r>
            <a:endParaRPr lang="en-US" sz="1300" dirty="0">
              <a:latin typeface="+mn-ea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41080" y="245973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학생 선택 → 상품 선택 → 신청</a:t>
            </a:r>
            <a:endParaRPr lang="en-US" sz="1020" dirty="0">
              <a:latin typeface="+mn-ea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3337560"/>
            <a:ext cx="484632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9400" y="3538728"/>
            <a:ext cx="329184" cy="329184"/>
          </a:xfrm>
          <a:prstGeom prst="ellipse">
            <a:avLst/>
          </a:prstGeom>
          <a:solidFill>
            <a:srgbClr val="6C5CE7"/>
          </a:solidFill>
          <a:ln w="12700">
            <a:solidFill>
              <a:srgbClr val="6C5CE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3602736"/>
            <a:ext cx="3291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+mn-ea"/>
                <a:cs typeface="NanumSquareRound" pitchFamily="34" charset="-120"/>
              </a:rPr>
              <a:t>6</a:t>
            </a:r>
            <a:endParaRPr lang="en-US" sz="900" dirty="0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132320" y="352044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Q&amp;A</a:t>
            </a:r>
            <a:endParaRPr lang="en-US" sz="1300" dirty="0">
              <a:latin typeface="+mn-ea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641080" y="3511296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문제 발생 시 확인 위치 안내</a:t>
            </a:r>
            <a:endParaRPr lang="en-US" sz="1020" dirty="0">
              <a:latin typeface="+mn-ea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1417320" y="5074920"/>
            <a:ext cx="9144000" cy="457200"/>
          </a:xfrm>
          <a:prstGeom prst="roundRect">
            <a:avLst>
              <a:gd name="adj" fmla="val 20000"/>
            </a:avLst>
          </a:prstGeom>
          <a:solidFill>
            <a:srgbClr val="FFF9E8"/>
          </a:solidFill>
          <a:ln w="12700">
            <a:solidFill>
              <a:srgbClr val="FFE3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81912" y="5193792"/>
            <a:ext cx="8814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7A4D00"/>
                </a:solidFill>
                <a:latin typeface="+mn-ea"/>
                <a:cs typeface="NanumSquareRound" pitchFamily="34" charset="-120"/>
              </a:rPr>
              <a:t>기억하기  마지막에는 “대리 구매는 학생 명의, 구매 확정 때 달란트 차감”을 다시 말합니다.</a:t>
            </a:r>
            <a:endParaRPr lang="en-US" sz="1200" dirty="0">
              <a:latin typeface="+mn-ea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15</a:t>
            </a:r>
            <a:endParaRPr lang="en-US" sz="900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마지막 정리</a:t>
            </a:r>
            <a:endParaRPr lang="en-US" sz="27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76809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 계정에서 꼭 기억할 5가지</a:t>
            </a:r>
            <a:endParaRPr lang="en-US" sz="125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43000" y="1133856"/>
            <a:ext cx="98755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129844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C48D"/>
                </a:solidFill>
                <a:latin typeface="+mn-ea"/>
                <a:cs typeface="NanumSquareRound" pitchFamily="34" charset="-120"/>
              </a:rPr>
              <a:t>✓</a:t>
            </a:r>
            <a:endParaRPr lang="en-US" sz="1400" dirty="0">
              <a:latin typeface="+mn-ea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83080" y="12893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달란트 지급</a:t>
            </a:r>
            <a:endParaRPr lang="en-US" sz="1320" dirty="0">
              <a:latin typeface="+mn-ea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46120" y="128016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출석은 빠르게, 활동은 항목 체크 후 지급 확정</a:t>
            </a:r>
            <a:endParaRPr lang="en-US" sz="108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43000" y="1956816"/>
            <a:ext cx="9875520" cy="603504"/>
          </a:xfrm>
          <a:prstGeom prst="roundRect">
            <a:avLst>
              <a:gd name="adj" fmla="val 18182"/>
            </a:avLst>
          </a:prstGeom>
          <a:solidFill>
            <a:srgbClr val="FBFA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12140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C48D"/>
                </a:solidFill>
                <a:latin typeface="+mn-ea"/>
                <a:cs typeface="NanumSquareRound" pitchFamily="34" charset="-120"/>
              </a:rPr>
              <a:t>✓</a:t>
            </a:r>
            <a:endParaRPr lang="en-US" sz="1400" dirty="0">
              <a:latin typeface="+mn-ea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83080" y="21122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QR 수령</a:t>
            </a:r>
            <a:endParaRPr lang="en-US" sz="1320" dirty="0">
              <a:latin typeface="+mn-ea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46120" y="210312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 본인이 받는 기능이며 대상/기간/위치 조건 확인</a:t>
            </a:r>
            <a:endParaRPr lang="en-US" sz="108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43000" y="2779776"/>
            <a:ext cx="98755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294436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C48D"/>
                </a:solidFill>
                <a:latin typeface="+mn-ea"/>
                <a:cs typeface="NanumSquareRound" pitchFamily="34" charset="-120"/>
              </a:rPr>
              <a:t>✓</a:t>
            </a:r>
            <a:endParaRPr lang="en-US" sz="140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783080" y="29352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상품 구매</a:t>
            </a:r>
            <a:endParaRPr lang="en-US" sz="132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46120" y="292608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교사용 상품은 직접, 학생용 상품은 대리 구매</a:t>
            </a:r>
            <a:endParaRPr lang="en-US" sz="1080" dirty="0">
              <a:latin typeface="+mn-ea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143000" y="3602736"/>
            <a:ext cx="9875520" cy="603504"/>
          </a:xfrm>
          <a:prstGeom prst="roundRect">
            <a:avLst>
              <a:gd name="adj" fmla="val 18182"/>
            </a:avLst>
          </a:prstGeom>
          <a:solidFill>
            <a:srgbClr val="FBFA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376732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C48D"/>
                </a:solidFill>
                <a:latin typeface="+mn-ea"/>
                <a:cs typeface="NanumSquareRound" pitchFamily="34" charset="-120"/>
              </a:rPr>
              <a:t>✓</a:t>
            </a:r>
            <a:endParaRPr lang="en-US" sz="140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783080" y="3758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구매 상태</a:t>
            </a:r>
            <a:endParaRPr lang="en-US" sz="1320" dirty="0"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246120" y="37490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신청 → 준비 → 구매 확정 → 지급 순서로 진행</a:t>
            </a:r>
            <a:endParaRPr lang="en-US" sz="1080" dirty="0">
              <a:latin typeface="+mn-ea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43000" y="4425696"/>
            <a:ext cx="9875520" cy="60350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7E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4590288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C48D"/>
                </a:solidFill>
                <a:latin typeface="+mn-ea"/>
                <a:cs typeface="NanumSquareRound" pitchFamily="34" charset="-120"/>
              </a:rPr>
              <a:t>✓</a:t>
            </a:r>
            <a:endParaRPr lang="en-US" sz="1400" dirty="0">
              <a:latin typeface="+mn-ea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83080" y="45811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263238"/>
                </a:solidFill>
                <a:latin typeface="+mn-ea"/>
                <a:cs typeface="NanumSquareRound" pitchFamily="34" charset="-120"/>
              </a:rPr>
              <a:t>권한 차이</a:t>
            </a:r>
            <a:endParaRPr lang="en-US" sz="1320" dirty="0">
              <a:latin typeface="+mn-ea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246120" y="457200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  <a:latin typeface="+mn-ea"/>
                <a:cs typeface="NanumSquareRound" pitchFamily="34" charset="-120"/>
              </a:rPr>
              <a:t>메뉴가 다르면 권한/부서/반 설정부터 확인</a:t>
            </a:r>
            <a:endParaRPr lang="en-US" sz="1080" dirty="0">
              <a:latin typeface="+mn-ea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7280" y="559612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오늘부터는 학생 활동을 “기억”이 아니라 “기록”으로 남깁니다.</a:t>
            </a:r>
            <a:endParaRPr lang="en-US" sz="2000" dirty="0">
              <a:latin typeface="+mn-ea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AA2B1"/>
                </a:solidFill>
                <a:latin typeface="+mn-ea"/>
                <a:cs typeface="NanumSquareRound" pitchFamily="34" charset="-120"/>
              </a:rPr>
              <a:t>달란트 마을 교사 사용 가이드</a:t>
            </a:r>
            <a:endParaRPr lang="en-US" sz="850" dirty="0">
              <a:latin typeface="+mn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320272" y="64739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C5CE7"/>
                </a:solidFill>
                <a:latin typeface="+mn-ea"/>
                <a:cs typeface="NanumSquareRound" pitchFamily="34" charset="-120"/>
              </a:rPr>
              <a:t>16</a:t>
            </a:r>
            <a:endParaRPr lang="en-US" sz="9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Rou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Rou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1487</Words>
  <Application>Microsoft Office PowerPoint</Application>
  <PresentationFormat>와이드스크린</PresentationFormat>
  <Paragraphs>255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NanumSquareRound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CHO-Talents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달란트 마을 교사 사용 가이드</dc:title>
  <dc:subject>달란트 마을 교사 사용자 가이드</dc:subject>
  <dc:creator>OpenAI</dc:creator>
  <cp:lastModifiedBy>seegene</cp:lastModifiedBy>
  <cp:revision>20</cp:revision>
  <dcterms:created xsi:type="dcterms:W3CDTF">2026-06-02T15:23:30Z</dcterms:created>
  <dcterms:modified xsi:type="dcterms:W3CDTF">2026-06-04T04:58:58Z</dcterms:modified>
</cp:coreProperties>
</file>