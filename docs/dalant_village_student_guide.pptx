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42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여러분, 오늘은 달란트 마을을 같이 둘러볼 거예요. 이곳에서는 선생님께 받은 달란트를 확인하고, 모은 달란트로 상품을 신청할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세 가지를 기억하면 됩니다. 첫째, 달란트는 좋은 활동을 하면 모을 수 있어요. 둘째, 내 달란트 화면에서 지금 가진 달란트를 볼 수 있어요. 셋째, 상품은 신청 후 선생님이 확인하고 준비해 주는 순서가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화면은 달란트 마을의 출발 화면이에요. 여기에서 달란트 적립, 상품 구매, 내 달란트로 갈 수 있어요. 내 기록을 보려면 로그인이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로그인 화면에서는 아이디와 비밀번호를 입력해요. 아직 아이디가 없으면 계정 등록 신청을 누릅니다. 신청했다고 바로 사용할 수 있는 것은 아니고, 선생님이나 관리자가 승인해 주어야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가이드는 사용 설명서예요. 처음 사용하는 친구가 무엇부터 해야 하는지, 어느 메뉴를 눌러야 하는지 알려줍니다. 길을 잃으면 학생 가이드를 보면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달란트는 그냥 생기는 것이 아니에요. 성경 읽기, 말씀 암송, 예배 출석, 친구 초대, 봉사 같은 좋은 활동을 하면 선생님 확인 후 받을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선생님이 QR 코드를 보여주면 달란트 수령 화면에서 카메라를 누르고 QR을 비추면 됩니다. QR에는 기간, 대상, 한 번만 받기 같은 조건이 있을 수 있어요. 안 되면 선생님께 물어봅니다.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달란트 화면은 내 달란트 통장이라고 생각하면 쉬워요. 사용 가능 달란트, 수령 대기 상품수, 사용 대기 달란트, 사용 완료 달란트, 누적 적립 달란트를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달란트 아래쪽 표에서는 언제 달란트를 받았고 언제 사용했는지 볼 수 있어요. 초록색 적립은 늘어난 것, 빨간색 사용은 줄어든 것입니다. 구매 내역에서는 신청한 상품 상태도 볼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상점에서는 상품 사진, 이름, 가격, 설명을 봅니다. 내가 가진 사용 가능 달란트가 상품 가격보다 많으면 구매 신청을 할 수 있어요. 하지만 바로 받는 것이 아니라 신청하는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 구매는 네 단계입니다. 구매 신청, 상품 준비, 상품 구매, 상품 지급입니다. 구매 신청을 했다고 바로 달란트가 없어지는 것은 아니고 사용 대기 달란트로 묶입니다. 선생님이 구매를 확정하면 실제로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구매 상품 페이지에서는 내가 신청한 상품이 어디까지 진행되었는지 봅니다. 구매 신청 상태에서는 취소할 수 있어요. 상품 준비는 준비 중, 상품 구매는 확정되어 달란트가 사용된 상태, 상품 지급은 완료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궁금한 것이 있으면 Q&amp;A에서 먼저 찾아봅니다. 질문 오른쪽의 플러스 표시를 눌러 답을 볼 수 있어요. 답을 찾지 못하면 질문을 남기고, 그래도 모르겠으면 선생님께 물어봅니다.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것을 세 가지만 기억하면 됩니다. 좋은 활동으로 달란트를 모아요. 내 달란트에서 잔액과 기록을 확인해요. 상품은 신청 후 선생님이 확인하고 준비해 주는 순서가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발표자 참고용입니다. 발표 시간이 짧으면 숨김 처리해도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685800"/>
            <a:ext cx="521208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⭐ 달란트 마을</a:t>
            </a:r>
            <a:endParaRPr lang="en-US" sz="2800" dirty="0">
              <a:latin typeface="+mn-ea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800" y="1417320"/>
            <a:ext cx="4937760" cy="13258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초등 3·4학년을 위한</a:t>
            </a:r>
            <a:endParaRPr lang="en-US" sz="3900" dirty="0">
              <a:latin typeface="+mn-ea"/>
            </a:endParaRPr>
          </a:p>
          <a:p>
            <a:pPr marL="0" indent="0" algn="l">
              <a:buNone/>
            </a:pPr>
            <a:r>
              <a:rPr lang="en-US" sz="39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사용 방법 발표</a:t>
            </a:r>
            <a:endParaRPr lang="en-US" sz="39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9808" y="2999232"/>
            <a:ext cx="4800600" cy="585216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달란트를 모으고, </a:t>
            </a:r>
            <a:r>
              <a:rPr lang="en-US" sz="1800" dirty="0" err="1">
                <a:solidFill>
                  <a:srgbClr val="5D6670"/>
                </a:solidFill>
                <a:latin typeface="+mn-ea"/>
                <a:cs typeface="Noto Sans CJK KR" pitchFamily="34" charset="-120"/>
              </a:rPr>
              <a:t>확인하고</a:t>
            </a:r>
            <a:r>
              <a:rPr lang="en-US" sz="1800" dirty="0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1800" dirty="0" err="1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상품을</a:t>
            </a:r>
            <a:r>
              <a:rPr lang="en-US" sz="1800" dirty="0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18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신청하는 법을 배워요.</a:t>
            </a:r>
            <a:endParaRPr lang="en-US" sz="18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9808" y="3977640"/>
            <a:ext cx="4709160" cy="594360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오늘의 목표: “혼자서도 길을 찾기!”</a:t>
            </a:r>
            <a:endParaRPr lang="en-US" sz="22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9808" y="6053328"/>
            <a:ext cx="3657600" cy="256032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D92A0"/>
                </a:solidFill>
                <a:latin typeface="+mn-ea"/>
                <a:cs typeface="Noto Sans CJK KR" pitchFamily="34" charset="-120"/>
              </a:rPr>
              <a:t>발표용 PPT · 화면 캡처 기반</a:t>
            </a:r>
            <a:endParaRPr lang="en-US" sz="10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1</a:t>
            </a:r>
            <a:endParaRPr lang="en-US" sz="800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6" b="13398"/>
          <a:stretch/>
        </p:blipFill>
        <p:spPr>
          <a:xfrm>
            <a:off x="7256550" y="1022465"/>
            <a:ext cx="2555041" cy="453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오늘 배울 것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세 가지만 기억해요</a:t>
            </a:r>
            <a:endParaRPr lang="en-US" sz="25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1</a:t>
            </a:r>
            <a:endParaRPr lang="en-US" sz="24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45920" y="1801368"/>
            <a:ext cx="429768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달란트는 어떻게 모을까?</a:t>
            </a:r>
            <a:endParaRPr lang="en-US" sz="25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91640" y="233172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좋은 활동을 하고 선생님 확인을 받으면 달란트가 쌓여요.</a:t>
            </a:r>
            <a:endParaRPr lang="en-US" sz="17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502920" cy="502920"/>
          </a:xfrm>
          <a:prstGeom prst="ellipse">
            <a:avLst/>
          </a:prstGeom>
          <a:solidFill>
            <a:srgbClr val="39E0B0"/>
          </a:solidFill>
          <a:ln>
            <a:solidFill>
              <a:srgbClr val="39E0B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2</a:t>
            </a:r>
            <a:endParaRPr lang="en-US" sz="24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0" y="3127248"/>
            <a:ext cx="429768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내 달란트는 어디서 볼까?</a:t>
            </a:r>
            <a:endParaRPr lang="en-US" sz="25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91640" y="36576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내 달란트 화면에서 잔액, 기록, </a:t>
            </a:r>
            <a:r>
              <a:rPr lang="en-US" sz="1700" dirty="0" err="1">
                <a:solidFill>
                  <a:srgbClr val="5D6670"/>
                </a:solidFill>
                <a:latin typeface="+mn-ea"/>
                <a:cs typeface="Noto Sans CJK KR" pitchFamily="34" charset="-120"/>
              </a:rPr>
              <a:t>구매</a:t>
            </a: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1700" dirty="0" err="1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상태를</a:t>
            </a:r>
            <a:endParaRPr lang="en-US" sz="1700" dirty="0" smtClean="0">
              <a:solidFill>
                <a:srgbClr val="5D6670"/>
              </a:solidFill>
              <a:latin typeface="+mn-ea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1700" dirty="0" err="1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확인해요</a:t>
            </a: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.</a:t>
            </a:r>
            <a:endParaRPr lang="en-US" sz="17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502920" cy="502920"/>
          </a:xfrm>
          <a:prstGeom prst="ellipse">
            <a:avLst/>
          </a:prstGeom>
          <a:solidFill>
            <a:srgbClr val="FFA83D"/>
          </a:solidFill>
          <a:ln>
            <a:solidFill>
              <a:srgbClr val="FFA83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3</a:t>
            </a:r>
            <a:endParaRPr lang="en-US" sz="24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0" y="4453128"/>
            <a:ext cx="429768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상품은 어떻게 신청할까?</a:t>
            </a:r>
            <a:endParaRPr lang="en-US" sz="250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91640" y="4983480"/>
            <a:ext cx="489204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상점에서 상품을 고르고, </a:t>
            </a:r>
            <a:r>
              <a:rPr lang="en-US" sz="1700" dirty="0" err="1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선생님이</a:t>
            </a: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1700" dirty="0" err="1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확인하면</a:t>
            </a:r>
            <a:endParaRPr lang="en-US" sz="1700" dirty="0" smtClean="0">
              <a:solidFill>
                <a:srgbClr val="5D6670"/>
              </a:solidFill>
              <a:latin typeface="+mn-ea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1700" dirty="0" err="1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차례대로</a:t>
            </a:r>
            <a:r>
              <a:rPr lang="en-US" sz="1700" dirty="0" smtClean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받아요.</a:t>
            </a:r>
            <a:endParaRPr lang="en-US" sz="17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49440" y="1828800"/>
            <a:ext cx="4206240" cy="914400"/>
          </a:xfrm>
          <a:prstGeom prst="roundRect">
            <a:avLst/>
          </a:prstGeom>
          <a:solidFill>
            <a:srgbClr val="FFF1CC"/>
          </a:solidFill>
          <a:ln>
            <a:solidFill>
              <a:srgbClr val="FFF1C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25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        </a:t>
            </a:r>
            <a:r>
              <a:rPr lang="en-US" sz="25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아이디와</a:t>
            </a:r>
            <a:r>
              <a:rPr lang="en-US" sz="25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비밀번호는 나만 알기!</a:t>
            </a:r>
            <a:endParaRPr lang="en-US" sz="25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49440" y="3090672"/>
            <a:ext cx="4206240" cy="914400"/>
          </a:xfrm>
          <a:prstGeom prst="roundRect">
            <a:avLst/>
          </a:prstGeom>
          <a:solidFill>
            <a:srgbClr val="EAF8FF"/>
          </a:solidFill>
          <a:ln>
            <a:solidFill>
              <a:srgbClr val="EAF8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모르면</a:t>
            </a:r>
            <a:r>
              <a:rPr lang="en-US" sz="25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Q&amp;A </a:t>
            </a:r>
            <a:r>
              <a:rPr lang="en-US" sz="25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또는</a:t>
            </a:r>
            <a:r>
              <a:rPr lang="en-US" sz="25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/>
            </a:r>
            <a:br>
              <a:rPr lang="en-US" sz="25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</a:br>
            <a:r>
              <a:rPr lang="en-US" sz="25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선생님께</a:t>
            </a:r>
            <a:r>
              <a:rPr lang="en-US" sz="25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질문하기</a:t>
            </a:r>
            <a:endParaRPr lang="en-US" sz="250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49440" y="4352544"/>
            <a:ext cx="4206240" cy="914400"/>
          </a:xfrm>
          <a:prstGeom prst="roundRect">
            <a:avLst/>
          </a:prstGeom>
          <a:solidFill>
            <a:srgbClr val="F0EAFF"/>
          </a:solidFill>
          <a:ln>
            <a:solidFill>
              <a:srgbClr val="F0EA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상품은</a:t>
            </a:r>
            <a:r>
              <a:rPr lang="en-US" sz="24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“바로 </a:t>
            </a:r>
            <a:r>
              <a:rPr lang="en-US" sz="2400" b="1" dirty="0" err="1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받기”</a:t>
            </a:r>
            <a:r>
              <a:rPr lang="en-US" sz="24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가</a:t>
            </a:r>
            <a:endParaRPr lang="en-US" sz="2400" b="1" dirty="0" smtClean="0">
              <a:solidFill>
                <a:srgbClr val="273036"/>
              </a:solidFill>
              <a:latin typeface="+mn-ea"/>
              <a:cs typeface="Noto Sans CJK KR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아니라</a:t>
            </a:r>
            <a:r>
              <a:rPr lang="en-US" sz="2400" b="1" dirty="0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 </a:t>
            </a: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“신청하기”</a:t>
            </a:r>
            <a:endParaRPr lang="en-US" sz="240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2</a:t>
            </a:r>
            <a:endParaRPr lang="en-US" sz="800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10180" y="3301912"/>
            <a:ext cx="5052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solidFill>
                  <a:srgbClr val="273036"/>
                </a:solidFill>
                <a:cs typeface="Noto Sans CJK KR" pitchFamily="34" charset="-120"/>
              </a:rPr>
              <a:t>❓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62702" y="184819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rgbClr val="273036"/>
                </a:solidFill>
                <a:cs typeface="Noto Sans CJK KR" pitchFamily="34" charset="-120"/>
              </a:rPr>
              <a:t>🔐</a:t>
            </a:r>
          </a:p>
          <a:p>
            <a:pPr algn="ctr"/>
            <a:r>
              <a:rPr lang="en-US" altLang="ko-KR" sz="2400" b="1" dirty="0" err="1" smtClean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약속</a:t>
            </a:r>
            <a:endParaRPr lang="ko-KR" alt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6716591" y="456238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273036"/>
                </a:solidFill>
                <a:cs typeface="Noto Sans CJK KR" pitchFamily="34" charset="-120"/>
              </a:rPr>
              <a:t>🛒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1단계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메인 화면: 달란트 마을의 첫 문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1520" y="1508760"/>
            <a:ext cx="3154680" cy="310896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A83D"/>
                </a:solidFill>
                <a:latin typeface="+mn-ea"/>
                <a:cs typeface="Noto Sans CJK KR" pitchFamily="34" charset="-120"/>
              </a:rPr>
              <a:t>💰 달란트 적립</a:t>
            </a:r>
            <a:endParaRPr lang="en-US" sz="19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39" y="1819656"/>
            <a:ext cx="3686695" cy="493776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어떤 활동으로 달란트를 받을 수 있는지 확인해요.</a:t>
            </a:r>
            <a:endParaRPr lang="en-US" sz="13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3154680" cy="310896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9E0B0"/>
                </a:solidFill>
                <a:latin typeface="+mn-ea"/>
                <a:cs typeface="Noto Sans CJK KR" pitchFamily="34" charset="-120"/>
              </a:rPr>
              <a:t>🛒 상품 구매</a:t>
            </a:r>
            <a:endParaRPr lang="en-US" sz="19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2825496"/>
            <a:ext cx="3562004" cy="493776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모은 달란트로 신청할 수 있는 상품을 둘러봐요.</a:t>
            </a:r>
            <a:endParaRPr lang="en-US" sz="13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3154680" cy="310896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DA3FF"/>
                </a:solidFill>
                <a:latin typeface="+mn-ea"/>
                <a:cs typeface="Noto Sans CJK KR" pitchFamily="34" charset="-120"/>
              </a:rPr>
              <a:t>🏅 내 달란트</a:t>
            </a:r>
            <a:endParaRPr lang="en-US" sz="19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3831336"/>
            <a:ext cx="3429000" cy="493776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내가 가진 달란트와 사용 기록을 확인해요.</a:t>
            </a:r>
            <a:endParaRPr lang="en-US" sz="130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6705" y="4892040"/>
            <a:ext cx="4372495" cy="56692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로그인하면 더 많은 메뉴가 보여요</a:t>
            </a:r>
            <a:endParaRPr lang="en-US" sz="2200" dirty="0">
              <a:latin typeface="+mn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3</a:t>
            </a:r>
            <a:endParaRPr lang="en-US" sz="800" dirty="0">
              <a:latin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6" b="13398"/>
          <a:stretch/>
        </p:blipFill>
        <p:spPr>
          <a:xfrm>
            <a:off x="7256550" y="714895"/>
            <a:ext cx="2555041" cy="453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2단계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계정 신청과 로그인</a:t>
            </a:r>
            <a:endParaRPr lang="en-US" sz="2500" dirty="0">
              <a:latin typeface="+mn-ea"/>
            </a:endParaRPr>
          </a:p>
        </p:txBody>
      </p:sp>
      <p:sp>
        <p:nvSpPr>
          <p:cNvPr id="6" name="Text 2"/>
          <p:cNvSpPr/>
          <p:nvPr/>
        </p:nvSpPr>
        <p:spPr>
          <a:xfrm>
            <a:off x="777240" y="1371600"/>
            <a:ext cx="219456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아이디가 있으면</a:t>
            </a:r>
            <a:endParaRPr lang="en-US" sz="1900" dirty="0">
              <a:latin typeface="+mn-ea"/>
            </a:endParaRPr>
          </a:p>
        </p:txBody>
      </p:sp>
      <p:sp>
        <p:nvSpPr>
          <p:cNvPr id="7" name="Text 3"/>
          <p:cNvSpPr/>
          <p:nvPr/>
        </p:nvSpPr>
        <p:spPr>
          <a:xfrm>
            <a:off x="777240" y="1737360"/>
            <a:ext cx="4297680" cy="7772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아이디 + 비밀번호 입력</a:t>
            </a:r>
            <a:endParaRPr lang="en-US" sz="2500" dirty="0">
              <a:latin typeface="+mn-ea"/>
            </a:endParaRPr>
          </a:p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→ 로그인 버튼 누르기</a:t>
            </a:r>
            <a:endParaRPr lang="en-US" sz="2500" dirty="0">
              <a:latin typeface="+mn-ea"/>
            </a:endParaRPr>
          </a:p>
        </p:txBody>
      </p:sp>
      <p:sp>
        <p:nvSpPr>
          <p:cNvPr id="8" name="Text 4"/>
          <p:cNvSpPr/>
          <p:nvPr/>
        </p:nvSpPr>
        <p:spPr>
          <a:xfrm>
            <a:off x="777240" y="3063240"/>
            <a:ext cx="219456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4C759"/>
                </a:solidFill>
                <a:latin typeface="+mn-ea"/>
                <a:cs typeface="Noto Sans CJK KR" pitchFamily="34" charset="-120"/>
              </a:rPr>
              <a:t>아이디가 없으면</a:t>
            </a:r>
            <a:endParaRPr lang="en-US" sz="1900" dirty="0">
              <a:latin typeface="+mn-ea"/>
            </a:endParaRPr>
          </a:p>
        </p:txBody>
      </p:sp>
      <p:sp>
        <p:nvSpPr>
          <p:cNvPr id="9" name="Text 5"/>
          <p:cNvSpPr/>
          <p:nvPr/>
        </p:nvSpPr>
        <p:spPr>
          <a:xfrm>
            <a:off x="777240" y="3429000"/>
            <a:ext cx="4572000" cy="82296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계정 등록 신청</a:t>
            </a:r>
            <a:endParaRPr lang="en-US" sz="2400" dirty="0">
              <a:latin typeface="+mn-ea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→ 선생님/관리자 승인 기다리기</a:t>
            </a:r>
            <a:endParaRPr lang="en-US" sz="2400" dirty="0">
              <a:latin typeface="+mn-ea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68680" y="5074920"/>
            <a:ext cx="4480560" cy="502920"/>
          </a:xfrm>
          <a:prstGeom prst="roundRect">
            <a:avLst/>
          </a:prstGeom>
          <a:solidFill>
            <a:srgbClr val="FFF1CC"/>
          </a:solidFill>
          <a:ln>
            <a:solidFill>
              <a:srgbClr val="FFF1C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🔑 비밀번호는 친구에게 알려주지 않아요.</a:t>
            </a:r>
            <a:endParaRPr lang="en-US" sz="1900" dirty="0">
              <a:latin typeface="+mn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4</a:t>
            </a:r>
            <a:endParaRPr lang="en-US" sz="800" dirty="0"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42" b="17211"/>
          <a:stretch/>
        </p:blipFill>
        <p:spPr>
          <a:xfrm>
            <a:off x="5526307" y="1288471"/>
            <a:ext cx="3169788" cy="428936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16970"/>
          <a:stretch/>
        </p:blipFill>
        <p:spPr>
          <a:xfrm>
            <a:off x="8817771" y="1072342"/>
            <a:ext cx="3169788" cy="4621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3단계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학생 가이드: 길을 잃으면 여기!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457200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학생 가이드에서 볼 수 있어요</a:t>
            </a:r>
            <a:endParaRPr lang="en-US" sz="24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148840"/>
            <a:ext cx="2011680" cy="530352"/>
          </a:xfrm>
          <a:prstGeom prst="roundRect">
            <a:avLst/>
          </a:prstGeom>
          <a:solidFill>
            <a:srgbClr val="FFF1CC"/>
          </a:solidFill>
          <a:ln>
            <a:solidFill>
              <a:srgbClr val="FFF1C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계정 신청</a:t>
            </a:r>
            <a:endParaRPr lang="en-US" sz="21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3154680" y="2148840"/>
            <a:ext cx="2011680" cy="530352"/>
          </a:xfrm>
          <a:prstGeom prst="roundRect">
            <a:avLst/>
          </a:prstGeom>
          <a:solidFill>
            <a:srgbClr val="EAF8FF"/>
          </a:solidFill>
          <a:ln>
            <a:solidFill>
              <a:srgbClr val="EAF8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내 달란트 확인</a:t>
            </a:r>
            <a:endParaRPr lang="en-US" sz="21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011680" cy="530352"/>
          </a:xfrm>
          <a:prstGeom prst="roundRect">
            <a:avLst/>
          </a:prstGeom>
          <a:solidFill>
            <a:srgbClr val="F0EAFF"/>
          </a:solidFill>
          <a:ln>
            <a:solidFill>
              <a:srgbClr val="F0EA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 구매 신청</a:t>
            </a:r>
            <a:endParaRPr lang="en-US" sz="21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3154680" y="2971800"/>
            <a:ext cx="2011680" cy="530352"/>
          </a:xfrm>
          <a:prstGeom prst="roundRect">
            <a:avLst/>
          </a:prstGeom>
          <a:solidFill>
            <a:srgbClr val="E9FFF7"/>
          </a:solidFill>
          <a:ln>
            <a:solidFill>
              <a:srgbClr val="E9FF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QR 달란트 수령</a:t>
            </a:r>
            <a:endParaRPr lang="en-US" sz="21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011680" y="3794760"/>
            <a:ext cx="2011680" cy="530352"/>
          </a:xfrm>
          <a:prstGeom prst="roundRect">
            <a:avLst/>
          </a:prstGeom>
          <a:solidFill>
            <a:srgbClr val="FFECEC"/>
          </a:solidFill>
          <a:ln>
            <a:solidFill>
              <a:srgbClr val="FFEC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질문하기</a:t>
            </a:r>
            <a:endParaRPr lang="en-US" sz="210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5840" y="4892040"/>
            <a:ext cx="3840480" cy="56692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한 줄 요약: 사용 설명서예요</a:t>
            </a:r>
            <a:endParaRPr lang="en-US" sz="2200" dirty="0">
              <a:latin typeface="+mn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5</a:t>
            </a:r>
            <a:endParaRPr lang="en-US" sz="800" dirty="0">
              <a:latin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8" b="15151"/>
          <a:stretch/>
        </p:blipFill>
        <p:spPr>
          <a:xfrm>
            <a:off x="6896166" y="320040"/>
            <a:ext cx="3169788" cy="54947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4단계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달란트는 좋은 활동으로 모아요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1920240" cy="36576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A83D"/>
                </a:solidFill>
                <a:latin typeface="+mn-ea"/>
                <a:cs typeface="Noto Sans CJK KR" pitchFamily="34" charset="-120"/>
              </a:rPr>
              <a:t>예시 활동</a:t>
            </a:r>
            <a:endParaRPr lang="en-US" sz="22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246888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📖 성경 읽기</a:t>
            </a:r>
            <a:endParaRPr lang="en-US" sz="24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246888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✍️ 말씀 암송</a:t>
            </a:r>
            <a:endParaRPr lang="en-US" sz="24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246888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✅ 출석 체크</a:t>
            </a:r>
            <a:endParaRPr lang="en-US" sz="24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420624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🤝 친구 초대 / 봉사 / 선행</a:t>
            </a:r>
            <a:endParaRPr lang="en-US" sz="24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5120640"/>
            <a:ext cx="4846320" cy="59436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활동마다 받을 수 있는 달란트가 다를 수 있어요. 궁금하면 선생님께 물어봐요.</a:t>
            </a:r>
            <a:endParaRPr lang="en-US" sz="170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6</a:t>
            </a:r>
            <a:endParaRPr lang="en-US" sz="800" dirty="0"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9" b="15151"/>
          <a:stretch/>
        </p:blipFill>
        <p:spPr>
          <a:xfrm>
            <a:off x="6987606" y="416468"/>
            <a:ext cx="3169788" cy="54864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5단계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QR로 달란트를 받을 수도 있어요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310896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4C759"/>
                </a:solidFill>
                <a:latin typeface="+mn-ea"/>
                <a:cs typeface="Noto Sans CJK KR" pitchFamily="34" charset="-120"/>
              </a:rPr>
              <a:t>QR 수령 순서</a:t>
            </a:r>
            <a:endParaRPr lang="en-US" sz="24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3931920" cy="38404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1. 카메라 버튼 누르기</a:t>
            </a:r>
            <a:endParaRPr lang="en-US" sz="23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4297680" cy="38404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2. QR 코드를 화면에 비추기</a:t>
            </a:r>
            <a:endParaRPr lang="en-US" sz="23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4480560" cy="38404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3. 성공하면 내 달란트가 늘어나요</a:t>
            </a:r>
            <a:endParaRPr lang="en-US" sz="23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4617720"/>
            <a:ext cx="4480560" cy="7772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QR이 안 되면 조건이 안 맞을 수 있어요.</a:t>
            </a:r>
            <a:endParaRPr lang="en-US" sz="1700" dirty="0">
              <a:latin typeface="+mn-ea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기간, 대상, 이미 받은 QR인지 확인해요.</a:t>
            </a:r>
            <a:endParaRPr lang="en-US" sz="17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7</a:t>
            </a:r>
            <a:endParaRPr lang="en-US" sz="8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1" b="15152"/>
          <a:stretch/>
        </p:blipFill>
        <p:spPr>
          <a:xfrm>
            <a:off x="6804726" y="374072"/>
            <a:ext cx="3169788" cy="5469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6단계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내 달란트는 “달란트 통장”이에요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411480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카드 5개를 읽어봐요</a:t>
            </a:r>
            <a:endParaRPr lang="en-US" sz="24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⭐ 사용 가능 달란트</a:t>
            </a:r>
            <a:endParaRPr lang="en-US" sz="20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5840" y="2395728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지금 상품 신청에 쓸 수 있어요.</a:t>
            </a:r>
            <a:endParaRPr lang="en-US" sz="15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🎁 수령 대기 상품수</a:t>
            </a:r>
            <a:endParaRPr lang="en-US" sz="20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5840" y="3172968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아직 받지 않은 상품 개수예요.</a:t>
            </a:r>
            <a:endParaRPr lang="en-US" sz="15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⏳ 사용 대기 달란트</a:t>
            </a:r>
            <a:endParaRPr lang="en-US" sz="200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5840" y="3950208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신청했지만 아직 확정 전이에요.</a:t>
            </a:r>
            <a:endParaRPr lang="en-US" sz="1500" dirty="0">
              <a:latin typeface="+mn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14400" y="4389120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📈 누적 적립 달란트</a:t>
            </a:r>
            <a:endParaRPr lang="en-US" sz="2000" dirty="0">
              <a:latin typeface="+mn-e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05840" y="4727448"/>
            <a:ext cx="41148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지금까지 받은 달란트 총합이에요.</a:t>
            </a:r>
            <a:endParaRPr lang="en-US" sz="1500" dirty="0">
              <a:latin typeface="+mn-ea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8</a:t>
            </a:r>
            <a:endParaRPr lang="en-US" sz="800" dirty="0">
              <a:latin typeface="+mn-ea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8" b="15151"/>
          <a:stretch/>
        </p:blipFill>
        <p:spPr>
          <a:xfrm>
            <a:off x="6941886" y="585631"/>
            <a:ext cx="3169788" cy="5494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7단계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내역 표: 언제 받고 어디에 썼을까?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338328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표에서 확인할 것</a:t>
            </a:r>
            <a:endParaRPr lang="en-US" sz="24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2743200" cy="38404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34C759"/>
                </a:solidFill>
                <a:latin typeface="+mn-ea"/>
                <a:cs typeface="Noto Sans CJK KR" pitchFamily="34" charset="-120"/>
              </a:rPr>
              <a:t>초록색 “적립”</a:t>
            </a:r>
            <a:endParaRPr lang="en-US" sz="23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5840" y="2450592"/>
            <a:ext cx="32004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달란트가 늘어난 기록이에요.</a:t>
            </a:r>
            <a:endParaRPr lang="en-US" sz="15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743200" cy="38404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6B6B"/>
                </a:solidFill>
                <a:latin typeface="+mn-ea"/>
                <a:cs typeface="Noto Sans CJK KR" pitchFamily="34" charset="-120"/>
              </a:rPr>
              <a:t>빨간색 “사용”</a:t>
            </a:r>
            <a:endParaRPr lang="en-US" sz="23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5839" y="3364992"/>
            <a:ext cx="3599411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상품 때문에 달란트가 줄어든 기록이에요.</a:t>
            </a:r>
            <a:endParaRPr lang="en-US" sz="15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369085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아래에는 구매한 상품과 상태도 보여요.</a:t>
            </a:r>
            <a:endParaRPr lang="en-US" sz="160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9</a:t>
            </a:r>
            <a:endParaRPr lang="en-US" sz="800" dirty="0"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4" b="6667"/>
          <a:stretch/>
        </p:blipFill>
        <p:spPr>
          <a:xfrm>
            <a:off x="6802648" y="421455"/>
            <a:ext cx="3169788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8단계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상점에서 상품을 찾아요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365760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DA3FF"/>
                </a:solidFill>
                <a:latin typeface="+mn-ea"/>
                <a:cs typeface="Noto Sans CJK KR" pitchFamily="34" charset="-120"/>
              </a:rPr>
              <a:t>상점에서 하는 일</a:t>
            </a:r>
            <a:endParaRPr lang="en-US" sz="24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148840"/>
            <a:ext cx="411480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🔎 카테고리와 검색창으로 찾기</a:t>
            </a:r>
            <a:endParaRPr lang="en-US" sz="22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411480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🏷️ 상품 이름, 가격, 설명 보기</a:t>
            </a:r>
            <a:endParaRPr lang="en-US" sz="22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452628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🛒 충분한 달란트가 있으면 구매 신청</a:t>
            </a:r>
            <a:endParaRPr lang="en-US" sz="22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9833" y="4892040"/>
            <a:ext cx="4792287" cy="640080"/>
          </a:xfrm>
          <a:prstGeom prst="roundRect">
            <a:avLst/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중요: 바로 받는 곳이 아니라 신청하는 곳!</a:t>
            </a:r>
            <a:endParaRPr lang="en-US" sz="22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10</a:t>
            </a:r>
            <a:endParaRPr lang="en-US" sz="8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" b="15031"/>
          <a:stretch/>
        </p:blipFill>
        <p:spPr>
          <a:xfrm>
            <a:off x="7054801" y="320040"/>
            <a:ext cx="3169788" cy="5503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상품 신청 흐름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누르면 바로 받는 게 아니에요</a:t>
            </a:r>
            <a:endParaRPr lang="en-US" sz="25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1</a:t>
            </a:r>
            <a:endParaRPr lang="en-US" sz="18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34440" y="1828800"/>
            <a:ext cx="1737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6C5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구매 신청</a:t>
            </a:r>
            <a:endParaRPr lang="en-US" sz="22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63240" y="1920240"/>
            <a:ext cx="41148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→</a:t>
            </a:r>
            <a:endParaRPr lang="en-US" sz="28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11880" y="1965960"/>
            <a:ext cx="384048" cy="384048"/>
          </a:xfrm>
          <a:prstGeom prst="ellipse">
            <a:avLst/>
          </a:prstGeom>
          <a:solidFill>
            <a:srgbClr val="FFA83D"/>
          </a:solidFill>
          <a:ln>
            <a:solidFill>
              <a:srgbClr val="FFA83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2</a:t>
            </a:r>
            <a:endParaRPr lang="en-US" sz="18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69080" y="1828800"/>
            <a:ext cx="1737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A8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 준비</a:t>
            </a:r>
            <a:endParaRPr lang="en-US" sz="22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97880" y="1920240"/>
            <a:ext cx="41148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→</a:t>
            </a:r>
            <a:endParaRPr lang="en-US" sz="28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6520" y="1965960"/>
            <a:ext cx="384048" cy="384048"/>
          </a:xfrm>
          <a:prstGeom prst="ellipse">
            <a:avLst/>
          </a:prstGeom>
          <a:solidFill>
            <a:srgbClr val="4DA3FF"/>
          </a:solidFill>
          <a:ln>
            <a:solidFill>
              <a:srgbClr val="4DA3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3</a:t>
            </a:r>
            <a:endParaRPr lang="en-US" sz="18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03720" y="1828800"/>
            <a:ext cx="1737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4DA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 구매</a:t>
            </a:r>
            <a:endParaRPr lang="en-US" sz="220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32520" y="1920240"/>
            <a:ext cx="41148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→</a:t>
            </a:r>
            <a:endParaRPr lang="en-US" sz="28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81160" y="1965960"/>
            <a:ext cx="384048" cy="384048"/>
          </a:xfrm>
          <a:prstGeom prst="ellipse">
            <a:avLst/>
          </a:prstGeom>
          <a:solidFill>
            <a:srgbClr val="34C759"/>
          </a:solidFill>
          <a:ln>
            <a:solidFill>
              <a:srgbClr val="34C759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4</a:t>
            </a:r>
            <a:endParaRPr lang="en-US" sz="18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38360" y="1828800"/>
            <a:ext cx="17373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4C75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 지급</a:t>
            </a:r>
            <a:endParaRPr lang="en-US" sz="220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5532120" cy="8686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구매 신청 때는 달란트가 바로 사라지지 않고</a:t>
            </a:r>
            <a:endParaRPr lang="en-US" sz="2400" dirty="0">
              <a:latin typeface="+mn-ea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“사용 대기 달란트”로 잠시 묶여요.</a:t>
            </a:r>
            <a:endParaRPr lang="en-US" sz="240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03720" y="3429000"/>
            <a:ext cx="4434840" cy="8686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선생님이 상품 구매를 확정하면</a:t>
            </a:r>
            <a:endParaRPr lang="en-US" sz="2400" dirty="0">
              <a:latin typeface="+mn-ea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그때 실제로 달란트가 사용돼요.</a:t>
            </a:r>
            <a:endParaRPr lang="en-US" sz="24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비유: 택배를 주문하면 바로 도착하지 않고, 준비·배송 순서가 있는 것과 같아요.</a:t>
            </a:r>
            <a:endParaRPr lang="en-US" sz="180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11</a:t>
            </a:r>
            <a:endParaRPr lang="en-US" sz="800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9단계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내 구매 상품에서 진행 상태를 봐요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374904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DA3FF"/>
                </a:solidFill>
                <a:latin typeface="+mn-ea"/>
                <a:cs typeface="Noto Sans CJK KR" pitchFamily="34" charset="-120"/>
              </a:rPr>
              <a:t>상태가 알려주는 뜻</a:t>
            </a:r>
            <a:endParaRPr lang="en-US" sz="24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2262" y="2057400"/>
            <a:ext cx="2011680" cy="475488"/>
          </a:xfrm>
          <a:prstGeom prst="roundRect">
            <a:avLst/>
          </a:prstGeom>
          <a:solidFill>
            <a:srgbClr val="F0F2F5"/>
          </a:solidFill>
          <a:ln>
            <a:solidFill>
              <a:srgbClr val="F0F2F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구매 신청</a:t>
            </a:r>
            <a:endParaRPr lang="en-US" sz="21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2768134" y="2084832"/>
            <a:ext cx="3283526" cy="420624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아직 선생님 확인 전. 이때는 취소 가능!</a:t>
            </a:r>
            <a:endParaRPr lang="en-US" sz="15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432262" y="2880360"/>
            <a:ext cx="2011680" cy="475488"/>
          </a:xfrm>
          <a:prstGeom prst="roundRect">
            <a:avLst/>
          </a:prstGeom>
          <a:solidFill>
            <a:srgbClr val="FFF1CC"/>
          </a:solidFill>
          <a:ln>
            <a:solidFill>
              <a:srgbClr val="FFF1C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 준비</a:t>
            </a:r>
            <a:endParaRPr lang="en-US" sz="21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2768134" y="2907792"/>
            <a:ext cx="2286000" cy="420624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선생님이 준비 중이에요.</a:t>
            </a:r>
            <a:endParaRPr lang="en-US" sz="15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2262" y="3703320"/>
            <a:ext cx="2011680" cy="475488"/>
          </a:xfrm>
          <a:prstGeom prst="roundRect">
            <a:avLst/>
          </a:prstGeom>
          <a:solidFill>
            <a:srgbClr val="EAF8FF"/>
          </a:solidFill>
          <a:ln>
            <a:solidFill>
              <a:srgbClr val="EAF8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 구매</a:t>
            </a:r>
            <a:endParaRPr lang="en-US" sz="210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768134" y="3730752"/>
            <a:ext cx="2651760" cy="420624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구매 확정, 달란트 사용 완료.</a:t>
            </a:r>
            <a:endParaRPr lang="en-US" sz="1500" dirty="0">
              <a:latin typeface="+mn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2262" y="4526280"/>
            <a:ext cx="2011680" cy="475488"/>
          </a:xfrm>
          <a:prstGeom prst="roundRect">
            <a:avLst/>
          </a:prstGeom>
          <a:solidFill>
            <a:srgbClr val="E9FFF7"/>
          </a:solidFill>
          <a:ln>
            <a:solidFill>
              <a:srgbClr val="E9FFF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 지급</a:t>
            </a:r>
            <a:endParaRPr lang="en-US" sz="2100" dirty="0">
              <a:latin typeface="+mn-e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768134" y="4553712"/>
            <a:ext cx="2585258" cy="420624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상품을 받은 완료 상태예요.</a:t>
            </a:r>
            <a:endParaRPr lang="en-US" sz="1500" dirty="0">
              <a:latin typeface="+mn-ea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12</a:t>
            </a:r>
            <a:endParaRPr lang="en-US" sz="800" dirty="0">
              <a:latin typeface="+mn-ea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9" b="16485"/>
          <a:stretch/>
        </p:blipFill>
        <p:spPr>
          <a:xfrm>
            <a:off x="7335981" y="420623"/>
            <a:ext cx="3169788" cy="53949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도움이 필요할 때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Q &amp; A에서 찾아보고 질문해요</a:t>
            </a:r>
            <a:endParaRPr lang="en-US" sz="2500" dirty="0">
              <a:latin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292608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먼저 해볼 일</a:t>
            </a:r>
            <a:endParaRPr lang="en-US" sz="2400" dirty="0">
              <a:latin typeface="+mn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4400" y="2148840"/>
            <a:ext cx="420624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1. 자주 묻는 질문을 눌러보기</a:t>
            </a:r>
            <a:endParaRPr lang="en-US" sz="22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420624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2. 답이 없으면 질문 남기기</a:t>
            </a:r>
            <a:endParaRPr lang="en-US" sz="22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4663440" cy="41148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3. 그래도 모르겠으면 선생님께 말하기</a:t>
            </a:r>
            <a:endParaRPr lang="en-US" sz="220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19" y="4663440"/>
            <a:ext cx="5798127" cy="5486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예: 로그인이 안 돼요 / 비밀번호를 잊었어요 / 달란트가 맞지 않아요</a:t>
            </a:r>
            <a:endParaRPr lang="en-US" sz="1500" dirty="0">
              <a:latin typeface="+mn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13</a:t>
            </a:r>
            <a:endParaRPr lang="en-US" sz="8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2" b="5212"/>
          <a:stretch/>
        </p:blipFill>
        <p:spPr>
          <a:xfrm>
            <a:off x="6862915" y="300919"/>
            <a:ext cx="3169788" cy="62096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920240" cy="292608"/>
          </a:xfrm>
          <a:prstGeom prst="roundRect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마무리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4572000" cy="5029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오늘의 세 가지 약속</a:t>
            </a:r>
            <a:endParaRPr lang="en-US" sz="25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600200"/>
            <a:ext cx="502920" cy="502920"/>
          </a:xfrm>
          <a:prstGeom prst="ellipse">
            <a:avLst/>
          </a:prstGeom>
          <a:solidFill>
            <a:srgbClr val="FFA83D"/>
          </a:solidFill>
          <a:ln>
            <a:solidFill>
              <a:srgbClr val="FFA83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1</a:t>
            </a:r>
            <a:endParaRPr lang="en-US" sz="24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0" y="1554480"/>
            <a:ext cx="7680960" cy="5486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좋은 활동으로 달란트를 모아요.</a:t>
            </a:r>
            <a:endParaRPr lang="en-US" sz="30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502920" cy="502920"/>
          </a:xfrm>
          <a:prstGeom prst="ellipse">
            <a:avLst/>
          </a:prstGeom>
          <a:solidFill>
            <a:srgbClr val="6C5CE7"/>
          </a:solidFill>
          <a:ln>
            <a:solidFill>
              <a:srgbClr val="6C5CE7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2</a:t>
            </a:r>
            <a:endParaRPr lang="en-US" sz="24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8503920" cy="5486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내 달란트에서 잔액과 기록을 확인해요.</a:t>
            </a:r>
            <a:endParaRPr lang="en-US" sz="30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502920" cy="502920"/>
          </a:xfrm>
          <a:prstGeom prst="ellipse">
            <a:avLst/>
          </a:prstGeom>
          <a:solidFill>
            <a:srgbClr val="34C759"/>
          </a:solidFill>
          <a:ln>
            <a:solidFill>
              <a:srgbClr val="34C759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3</a:t>
            </a:r>
            <a:endParaRPr lang="en-US" sz="24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8046720" cy="5486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상품은 신청 후 선생님이 확인해요.</a:t>
            </a:r>
            <a:endParaRPr lang="en-US" sz="30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5349240"/>
            <a:ext cx="9418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C83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⭐ 모르는 것이 있으면 Q&amp;A 또는 선생님께 질문하기</a:t>
            </a:r>
            <a:endParaRPr lang="en-US" sz="24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14</a:t>
            </a:r>
            <a:endParaRPr lang="en-US" sz="800" dirty="0"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011680" cy="292608"/>
          </a:xfrm>
          <a:prstGeom prst="roundRect">
            <a:avLst/>
          </a:prstGeom>
          <a:solidFill>
            <a:srgbClr val="5D6670"/>
          </a:solidFill>
          <a:ln>
            <a:solidFill>
              <a:srgbClr val="5D667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oto Sans CJK KR" pitchFamily="34" charset="-120"/>
              </a:rPr>
              <a:t>발표자 참고</a:t>
            </a:r>
            <a:endParaRPr lang="en-US" sz="12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5486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자료 출처와 발표 준비 메모</a:t>
            </a:r>
            <a:endParaRPr lang="en-US" sz="30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9966960" cy="5486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670"/>
                </a:solidFill>
                <a:latin typeface="+mn-ea"/>
                <a:cs typeface="Noto Sans CJK KR" pitchFamily="34" charset="-120"/>
              </a:rPr>
              <a:t>첨부된 화면 캡처 13장과 가이드 문서, 사용자 안내서, 아키텍처 문서를 바탕으로 구성했습니다.</a:t>
            </a:r>
            <a:endParaRPr lang="en-US" sz="18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828800" cy="36576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C5CE7"/>
                </a:solidFill>
                <a:latin typeface="+mn-ea"/>
                <a:cs typeface="Noto Sans CJK KR" pitchFamily="34" charset="-120"/>
              </a:rPr>
              <a:t>핵심 기준</a:t>
            </a:r>
            <a:endParaRPr lang="en-US" sz="22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9509760" cy="141732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• 대상: 초등학교 3~4학년</a:t>
            </a:r>
            <a:endParaRPr lang="en-US" sz="2000" dirty="0">
              <a:latin typeface="+mn-ea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• 목표: 로그인, 달란트 모으기, 확인하기, 상품 신청하기</a:t>
            </a:r>
            <a:endParaRPr lang="en-US" sz="2000" dirty="0">
              <a:latin typeface="+mn-ea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• 구매 흐름: 구매 신청 → 상품 준비 → 상품 구매 → 상품 지급</a:t>
            </a:r>
            <a:endParaRPr lang="en-US" sz="2000" dirty="0">
              <a:latin typeface="+mn-ea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273036"/>
                </a:solidFill>
                <a:latin typeface="+mn-ea"/>
                <a:cs typeface="Noto Sans CJK KR" pitchFamily="34" charset="-120"/>
              </a:rPr>
              <a:t>• 중요한 안전 약속: 비밀번호는 나만 알기</a:t>
            </a:r>
            <a:endParaRPr lang="en-US" sz="20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806440"/>
            <a:ext cx="9144000" cy="320040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8D92A0"/>
                </a:solidFill>
                <a:latin typeface="+mn-ea"/>
                <a:cs typeface="Noto Sans CJK KR" pitchFamily="34" charset="-120"/>
              </a:rPr>
              <a:t>필요 시 이 슬라이드는 발표에서 숨김 처리해도 됩니다.</a:t>
            </a:r>
            <a:endParaRPr lang="en-US" sz="14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2743200" cy="201168"/>
          </a:xfrm>
          <a:prstGeom prst="rect">
            <a:avLst/>
          </a:prstGeom>
          <a:noFill/>
          <a:ln>
            <a:solidFill>
              <a:srgbClr val="F7F2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AA0A6"/>
                </a:solidFill>
                <a:latin typeface="+mn-ea"/>
                <a:cs typeface="Noto Sans CJK KR" pitchFamily="34" charset="-120"/>
              </a:rPr>
              <a:t>달란트 마을 학생 가이드  |  15</a:t>
            </a:r>
            <a:endParaRPr lang="en-US" sz="8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1234</Words>
  <Application>Microsoft Office PowerPoint</Application>
  <PresentationFormat>와이드스크린</PresentationFormat>
  <Paragraphs>196</Paragraphs>
  <Slides>15</Slides>
  <Notes>15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CJK KR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CHO-Talents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달란트 마을 학생 사용 가이드</dc:title>
  <dc:subject>달란트 마을 학생 사용 가이드</dc:subject>
  <dc:creator>OpenAI</dc:creator>
  <cp:lastModifiedBy>seegene</cp:lastModifiedBy>
  <cp:revision>18</cp:revision>
  <dcterms:created xsi:type="dcterms:W3CDTF">2026-06-02T15:18:27Z</dcterms:created>
  <dcterms:modified xsi:type="dcterms:W3CDTF">2026-06-04T02:10:57Z</dcterms:modified>
</cp:coreProperties>
</file>